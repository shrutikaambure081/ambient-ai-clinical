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82" r:id="rId4"/>
    <p:sldId id="258" r:id="rId5"/>
    <p:sldId id="266" r:id="rId6"/>
    <p:sldId id="271" r:id="rId7"/>
    <p:sldId id="267" r:id="rId8"/>
    <p:sldId id="279" r:id="rId9"/>
    <p:sldId id="275" r:id="rId10"/>
    <p:sldId id="280" r:id="rId11"/>
    <p:sldId id="281" r:id="rId12"/>
    <p:sldId id="259" r:id="rId13"/>
    <p:sldId id="260" r:id="rId14"/>
    <p:sldId id="261" r:id="rId15"/>
    <p:sldId id="265" r:id="rId16"/>
  </p:sldIdLst>
  <p:sldSz cx="18288000" cy="10287000"/>
  <p:notesSz cx="6858000" cy="9144000"/>
  <p:embeddedFontLst>
    <p:embeddedFont>
      <p:font typeface="Bricolage Grotesque" panose="020B0604020202020204" charset="0"/>
      <p:regular r:id="rId17"/>
    </p:embeddedFont>
    <p:embeddedFont>
      <p:font typeface="Bricolage Grotesque Bold" panose="020B0604020202020204" charset="0"/>
      <p:regular r:id="rId18"/>
    </p:embeddedFont>
    <p:embeddedFont>
      <p:font typeface="Inter" panose="020B0604020202020204" charset="0"/>
      <p:regular r:id="rId19"/>
    </p:embeddedFont>
    <p:embeddedFont>
      <p:font typeface="Inter Bold" panose="020B0604020202020204" charset="0"/>
      <p:regular r:id="rId20"/>
    </p:embeddedFont>
    <p:embeddedFont>
      <p:font typeface="Poppins" panose="00000500000000000000" pitchFamily="2" charset="0"/>
      <p:regular r:id="rId21"/>
      <p:bold r:id="rId22"/>
      <p:italic r:id="rId23"/>
      <p:boldItalic r:id="rId24"/>
    </p:embeddedFont>
    <p:embeddedFont>
      <p:font typeface="Roboto Bold" panose="020B0604020202020204"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ECFF"/>
    <a:srgbClr val="582A0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9" d="100"/>
          <a:sy n="39" d="100"/>
        </p:scale>
        <p:origin x="940" y="-12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1.png"/><Relationship Id="rId7"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2.png"/><Relationship Id="rId4" Type="http://schemas.openxmlformats.org/officeDocument/2006/relationships/image" Target="../media/image12.svg"/></Relationships>
</file>

<file path=ppt/slides/_rels/slide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2.svg"/><Relationship Id="rId7" Type="http://schemas.openxmlformats.org/officeDocument/2006/relationships/image" Target="../media/image18.sv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7.png"/><Relationship Id="rId11" Type="http://schemas.openxmlformats.org/officeDocument/2006/relationships/image" Target="../media/image22.sv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2.png"/><Relationship Id="rId9" Type="http://schemas.openxmlformats.org/officeDocument/2006/relationships/image" Target="../media/image20.svg"/></Relationships>
</file>

<file path=ppt/slides/_rels/slide4.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4.png"/><Relationship Id="rId7" Type="http://schemas.openxmlformats.org/officeDocument/2006/relationships/image" Target="../media/image26.png"/><Relationship Id="rId2"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2.png"/><Relationship Id="rId4" Type="http://schemas.openxmlformats.org/officeDocument/2006/relationships/image" Target="../media/image25.svg"/><Relationship Id="rId9" Type="http://schemas.openxmlformats.org/officeDocument/2006/relationships/image" Target="../media/image28.svg"/></Relationships>
</file>

<file path=ppt/slides/_rels/slide5.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4.png"/><Relationship Id="rId7" Type="http://schemas.openxmlformats.org/officeDocument/2006/relationships/image" Target="../media/image26.png"/><Relationship Id="rId2"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2.png"/><Relationship Id="rId4" Type="http://schemas.openxmlformats.org/officeDocument/2006/relationships/image" Target="../media/image25.svg"/><Relationship Id="rId9" Type="http://schemas.openxmlformats.org/officeDocument/2006/relationships/image" Target="../media/image28.svg"/></Relationships>
</file>

<file path=ppt/slides/_rels/slide6.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15.sv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5.svg"/><Relationship Id="rId7" Type="http://schemas.openxmlformats.org/officeDocument/2006/relationships/image" Target="../media/image28.svg"/><Relationship Id="rId2"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1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5.svg"/><Relationship Id="rId7" Type="http://schemas.openxmlformats.org/officeDocument/2006/relationships/image" Target="../media/image28.svg"/><Relationship Id="rId2"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1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32.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svg"/><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3.emf"/><Relationship Id="rId4" Type="http://schemas.openxmlformats.org/officeDocument/2006/relationships/image" Target="../media/image7.svg"/></Relationships>
</file>

<file path=ppt/slides/_rels/slide12.xml.rels><?xml version="1.0" encoding="UTF-8" standalone="yes"?>
<Relationships xmlns="http://schemas.openxmlformats.org/package/2006/relationships"><Relationship Id="rId8" Type="http://schemas.openxmlformats.org/officeDocument/2006/relationships/image" Target="../media/image37.svg"/><Relationship Id="rId3" Type="http://schemas.openxmlformats.org/officeDocument/2006/relationships/image" Target="../media/image12.svg"/><Relationship Id="rId7" Type="http://schemas.openxmlformats.org/officeDocument/2006/relationships/image" Target="../media/image36.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35.svg"/><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4.png"/><Relationship Id="rId7" Type="http://schemas.openxmlformats.org/officeDocument/2006/relationships/image" Target="../media/image35.svg"/><Relationship Id="rId12" Type="http://schemas.openxmlformats.org/officeDocument/2006/relationships/image" Target="../media/image22.svg"/><Relationship Id="rId2"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image" Target="../media/image34.png"/><Relationship Id="rId11" Type="http://schemas.openxmlformats.org/officeDocument/2006/relationships/image" Target="../media/image21.png"/><Relationship Id="rId5" Type="http://schemas.openxmlformats.org/officeDocument/2006/relationships/image" Target="../media/image2.png"/><Relationship Id="rId10" Type="http://schemas.openxmlformats.org/officeDocument/2006/relationships/image" Target="../media/image39.svg"/><Relationship Id="rId4" Type="http://schemas.openxmlformats.org/officeDocument/2006/relationships/image" Target="../media/image25.svg"/><Relationship Id="rId9" Type="http://schemas.openxmlformats.org/officeDocument/2006/relationships/image" Target="../media/image38.png"/></Relationships>
</file>

<file path=ppt/slides/_rels/slide14.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11.png"/><Relationship Id="rId7" Type="http://schemas.openxmlformats.org/officeDocument/2006/relationships/image" Target="../media/image40.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2.png"/><Relationship Id="rId4" Type="http://schemas.openxmlformats.org/officeDocument/2006/relationships/image" Target="../media/image12.svg"/></Relationships>
</file>

<file path=ppt/slides/_rels/slide1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Freeform 3"/>
          <p:cNvSpPr/>
          <p:nvPr/>
        </p:nvSpPr>
        <p:spPr>
          <a:xfrm>
            <a:off x="68811" y="731997"/>
            <a:ext cx="17259300" cy="8537979"/>
          </a:xfrm>
          <a:custGeom>
            <a:avLst/>
            <a:gdLst/>
            <a:ahLst/>
            <a:cxnLst/>
            <a:rect l="l" t="t" r="r" b="b"/>
            <a:pathLst>
              <a:path w="17259300" h="8537979">
                <a:moveTo>
                  <a:pt x="0" y="0"/>
                </a:moveTo>
                <a:lnTo>
                  <a:pt x="17259300" y="0"/>
                </a:lnTo>
                <a:lnTo>
                  <a:pt x="17259300" y="8537979"/>
                </a:lnTo>
                <a:lnTo>
                  <a:pt x="0" y="8537979"/>
                </a:lnTo>
                <a:lnTo>
                  <a:pt x="0" y="0"/>
                </a:lnTo>
                <a:close/>
              </a:path>
            </a:pathLst>
          </a:custGeom>
          <a:blipFill>
            <a:blip r:embed="rId3">
              <a:alphaModFix amt="58000"/>
            </a:blip>
            <a:stretch>
              <a:fillRect l="-2117" t="-97690" b="-94078"/>
            </a:stretch>
          </a:blipFill>
        </p:spPr>
      </p:sp>
      <p:sp>
        <p:nvSpPr>
          <p:cNvPr id="4" name="Freeform 4"/>
          <p:cNvSpPr/>
          <p:nvPr/>
        </p:nvSpPr>
        <p:spPr>
          <a:xfrm>
            <a:off x="12762383" y="0"/>
            <a:ext cx="5525617" cy="10287000"/>
          </a:xfrm>
          <a:custGeom>
            <a:avLst/>
            <a:gdLst/>
            <a:ahLst/>
            <a:cxnLst/>
            <a:rect l="l" t="t" r="r" b="b"/>
            <a:pathLst>
              <a:path w="5525617" h="10287000">
                <a:moveTo>
                  <a:pt x="0" y="0"/>
                </a:moveTo>
                <a:lnTo>
                  <a:pt x="5525617" y="0"/>
                </a:lnTo>
                <a:lnTo>
                  <a:pt x="5525617" y="10287000"/>
                </a:lnTo>
                <a:lnTo>
                  <a:pt x="0" y="10287000"/>
                </a:lnTo>
                <a:lnTo>
                  <a:pt x="0" y="0"/>
                </a:lnTo>
                <a:close/>
              </a:path>
            </a:pathLst>
          </a:custGeom>
          <a:blipFill>
            <a:blip r:embed="rId4"/>
            <a:stretch>
              <a:fillRect t="-16368" r="-8355" b="-10159"/>
            </a:stretch>
          </a:blipFill>
        </p:spPr>
      </p:sp>
      <p:sp>
        <p:nvSpPr>
          <p:cNvPr id="5" name="Freeform 5"/>
          <p:cNvSpPr/>
          <p:nvPr/>
        </p:nvSpPr>
        <p:spPr>
          <a:xfrm>
            <a:off x="13767147" y="6325773"/>
            <a:ext cx="4840703" cy="5825791"/>
          </a:xfrm>
          <a:custGeom>
            <a:avLst/>
            <a:gdLst/>
            <a:ahLst/>
            <a:cxnLst/>
            <a:rect l="l" t="t" r="r" b="b"/>
            <a:pathLst>
              <a:path w="4840703" h="5825791">
                <a:moveTo>
                  <a:pt x="0" y="0"/>
                </a:moveTo>
                <a:lnTo>
                  <a:pt x="4840703" y="0"/>
                </a:lnTo>
                <a:lnTo>
                  <a:pt x="4840703" y="5825791"/>
                </a:lnTo>
                <a:lnTo>
                  <a:pt x="0" y="582579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10" name="Group 10"/>
          <p:cNvGrpSpPr/>
          <p:nvPr/>
        </p:nvGrpSpPr>
        <p:grpSpPr>
          <a:xfrm>
            <a:off x="1143000" y="1030216"/>
            <a:ext cx="3048000" cy="537484"/>
            <a:chOff x="0" y="0"/>
            <a:chExt cx="697734" cy="141560"/>
          </a:xfrm>
        </p:grpSpPr>
        <p:sp>
          <p:nvSpPr>
            <p:cNvPr id="11" name="Freeform 11"/>
            <p:cNvSpPr/>
            <p:nvPr/>
          </p:nvSpPr>
          <p:spPr>
            <a:xfrm>
              <a:off x="0" y="0"/>
              <a:ext cx="697734" cy="141560"/>
            </a:xfrm>
            <a:custGeom>
              <a:avLst/>
              <a:gdLst/>
              <a:ahLst/>
              <a:cxnLst/>
              <a:rect l="l" t="t" r="r" b="b"/>
              <a:pathLst>
                <a:path w="697734" h="141560">
                  <a:moveTo>
                    <a:pt x="52602" y="0"/>
                  </a:moveTo>
                  <a:lnTo>
                    <a:pt x="645131" y="0"/>
                  </a:lnTo>
                  <a:cubicBezTo>
                    <a:pt x="659082" y="0"/>
                    <a:pt x="672462" y="5542"/>
                    <a:pt x="682327" y="15407"/>
                  </a:cubicBezTo>
                  <a:cubicBezTo>
                    <a:pt x="692192" y="25272"/>
                    <a:pt x="697734" y="38651"/>
                    <a:pt x="697734" y="52602"/>
                  </a:cubicBezTo>
                  <a:lnTo>
                    <a:pt x="697734" y="88957"/>
                  </a:lnTo>
                  <a:cubicBezTo>
                    <a:pt x="697734" y="118009"/>
                    <a:pt x="674183" y="141560"/>
                    <a:pt x="645131" y="141560"/>
                  </a:cubicBezTo>
                  <a:lnTo>
                    <a:pt x="52602" y="141560"/>
                  </a:lnTo>
                  <a:cubicBezTo>
                    <a:pt x="38651" y="141560"/>
                    <a:pt x="25272" y="136018"/>
                    <a:pt x="15407" y="126153"/>
                  </a:cubicBezTo>
                  <a:cubicBezTo>
                    <a:pt x="5542" y="116288"/>
                    <a:pt x="0" y="102908"/>
                    <a:pt x="0" y="88957"/>
                  </a:cubicBezTo>
                  <a:lnTo>
                    <a:pt x="0" y="52602"/>
                  </a:lnTo>
                  <a:cubicBezTo>
                    <a:pt x="0" y="38651"/>
                    <a:pt x="5542" y="25272"/>
                    <a:pt x="15407" y="15407"/>
                  </a:cubicBezTo>
                  <a:cubicBezTo>
                    <a:pt x="25272" y="5542"/>
                    <a:pt x="38651" y="0"/>
                    <a:pt x="52602" y="0"/>
                  </a:cubicBezTo>
                  <a:close/>
                </a:path>
              </a:pathLst>
            </a:custGeom>
            <a:solidFill>
              <a:srgbClr val="FFFFFF"/>
            </a:solidFill>
          </p:spPr>
          <p:txBody>
            <a:bodyPr/>
            <a:lstStyle/>
            <a:p>
              <a:endParaRPr lang="en-IN" dirty="0"/>
            </a:p>
          </p:txBody>
        </p:sp>
        <p:sp>
          <p:nvSpPr>
            <p:cNvPr id="12" name="TextBox 12"/>
            <p:cNvSpPr txBox="1"/>
            <p:nvPr/>
          </p:nvSpPr>
          <p:spPr>
            <a:xfrm>
              <a:off x="0" y="-38100"/>
              <a:ext cx="697734" cy="179660"/>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1676400" y="8450558"/>
            <a:ext cx="2881942" cy="537484"/>
            <a:chOff x="0" y="0"/>
            <a:chExt cx="929618" cy="141560"/>
          </a:xfrm>
        </p:grpSpPr>
        <p:sp>
          <p:nvSpPr>
            <p:cNvPr id="15" name="Freeform 15"/>
            <p:cNvSpPr/>
            <p:nvPr/>
          </p:nvSpPr>
          <p:spPr>
            <a:xfrm>
              <a:off x="0" y="0"/>
              <a:ext cx="929617" cy="141560"/>
            </a:xfrm>
            <a:custGeom>
              <a:avLst/>
              <a:gdLst/>
              <a:ahLst/>
              <a:cxnLst/>
              <a:rect l="l" t="t" r="r" b="b"/>
              <a:pathLst>
                <a:path w="929617" h="141560">
                  <a:moveTo>
                    <a:pt x="39481" y="0"/>
                  </a:moveTo>
                  <a:lnTo>
                    <a:pt x="890136" y="0"/>
                  </a:lnTo>
                  <a:cubicBezTo>
                    <a:pt x="911941" y="0"/>
                    <a:pt x="929617" y="17676"/>
                    <a:pt x="929617" y="39481"/>
                  </a:cubicBezTo>
                  <a:lnTo>
                    <a:pt x="929617" y="102078"/>
                  </a:lnTo>
                  <a:cubicBezTo>
                    <a:pt x="929617" y="123883"/>
                    <a:pt x="911941" y="141560"/>
                    <a:pt x="890136" y="141560"/>
                  </a:cubicBezTo>
                  <a:lnTo>
                    <a:pt x="39481" y="141560"/>
                  </a:lnTo>
                  <a:cubicBezTo>
                    <a:pt x="17676" y="141560"/>
                    <a:pt x="0" y="123883"/>
                    <a:pt x="0" y="102078"/>
                  </a:cubicBezTo>
                  <a:lnTo>
                    <a:pt x="0" y="39481"/>
                  </a:lnTo>
                  <a:cubicBezTo>
                    <a:pt x="0" y="17676"/>
                    <a:pt x="17676" y="0"/>
                    <a:pt x="39481" y="0"/>
                  </a:cubicBezTo>
                  <a:close/>
                </a:path>
              </a:pathLst>
            </a:custGeom>
            <a:solidFill>
              <a:srgbClr val="FFFFFF"/>
            </a:solidFill>
          </p:spPr>
        </p:sp>
        <p:sp>
          <p:nvSpPr>
            <p:cNvPr id="16" name="TextBox 16"/>
            <p:cNvSpPr txBox="1"/>
            <p:nvPr/>
          </p:nvSpPr>
          <p:spPr>
            <a:xfrm>
              <a:off x="0" y="-38100"/>
              <a:ext cx="929618" cy="179660"/>
            </a:xfrm>
            <a:prstGeom prst="rect">
              <a:avLst/>
            </a:prstGeom>
          </p:spPr>
          <p:txBody>
            <a:bodyPr lIns="50800" tIns="50800" rIns="50800" bIns="50800" rtlCol="0" anchor="ctr"/>
            <a:lstStyle/>
            <a:p>
              <a:pPr algn="ctr">
                <a:lnSpc>
                  <a:spcPts val="2659"/>
                </a:lnSpc>
                <a:spcBef>
                  <a:spcPct val="0"/>
                </a:spcBef>
              </a:pPr>
              <a:endParaRPr/>
            </a:p>
          </p:txBody>
        </p:sp>
      </p:grpSp>
      <p:sp>
        <p:nvSpPr>
          <p:cNvPr id="18" name="Freeform 18"/>
          <p:cNvSpPr/>
          <p:nvPr/>
        </p:nvSpPr>
        <p:spPr>
          <a:xfrm>
            <a:off x="6280662" y="6325773"/>
            <a:ext cx="1273444" cy="720075"/>
          </a:xfrm>
          <a:custGeom>
            <a:avLst/>
            <a:gdLst/>
            <a:ahLst/>
            <a:cxnLst/>
            <a:rect l="l" t="t" r="r" b="b"/>
            <a:pathLst>
              <a:path w="1273444" h="720075">
                <a:moveTo>
                  <a:pt x="0" y="0"/>
                </a:moveTo>
                <a:lnTo>
                  <a:pt x="1273444" y="0"/>
                </a:lnTo>
                <a:lnTo>
                  <a:pt x="1273444" y="720075"/>
                </a:lnTo>
                <a:lnTo>
                  <a:pt x="0" y="72007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9" name="Freeform 19"/>
          <p:cNvSpPr/>
          <p:nvPr/>
        </p:nvSpPr>
        <p:spPr>
          <a:xfrm>
            <a:off x="9694486" y="5579321"/>
            <a:ext cx="2704184" cy="2871238"/>
          </a:xfrm>
          <a:custGeom>
            <a:avLst/>
            <a:gdLst/>
            <a:ahLst/>
            <a:cxnLst/>
            <a:rect l="l" t="t" r="r" b="b"/>
            <a:pathLst>
              <a:path w="2704184" h="2871238">
                <a:moveTo>
                  <a:pt x="0" y="0"/>
                </a:moveTo>
                <a:lnTo>
                  <a:pt x="2704184" y="0"/>
                </a:lnTo>
                <a:lnTo>
                  <a:pt x="2704184" y="2871237"/>
                </a:lnTo>
                <a:lnTo>
                  <a:pt x="0" y="287123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0" name="TextBox 20"/>
          <p:cNvSpPr txBox="1"/>
          <p:nvPr/>
        </p:nvSpPr>
        <p:spPr>
          <a:xfrm>
            <a:off x="1028701" y="2160472"/>
            <a:ext cx="12077700" cy="2083904"/>
          </a:xfrm>
          <a:prstGeom prst="rect">
            <a:avLst/>
          </a:prstGeom>
        </p:spPr>
        <p:txBody>
          <a:bodyPr wrap="square" lIns="0" tIns="0" rIns="0" bIns="0" rtlCol="0" anchor="t">
            <a:spAutoFit/>
          </a:bodyPr>
          <a:lstStyle/>
          <a:p>
            <a:pPr>
              <a:lnSpc>
                <a:spcPts val="8600"/>
              </a:lnSpc>
            </a:pPr>
            <a:r>
              <a:rPr lang="en-US" sz="4800" b="1" dirty="0">
                <a:solidFill>
                  <a:srgbClr val="582A04"/>
                </a:solidFill>
                <a:latin typeface="Roboto Bold"/>
                <a:ea typeface="Roboto Bold"/>
                <a:cs typeface="Roboto Bold"/>
                <a:sym typeface="Roboto Bold"/>
              </a:rPr>
              <a:t>AN END-TO-END AMBIENT AI SYSTEM FOR CLINICAL DOCUMENTATION</a:t>
            </a:r>
          </a:p>
        </p:txBody>
      </p:sp>
      <p:sp>
        <p:nvSpPr>
          <p:cNvPr id="22" name="TextBox 22"/>
          <p:cNvSpPr txBox="1"/>
          <p:nvPr/>
        </p:nvSpPr>
        <p:spPr>
          <a:xfrm>
            <a:off x="1028700" y="4770500"/>
            <a:ext cx="2080680" cy="291555"/>
          </a:xfrm>
          <a:prstGeom prst="rect">
            <a:avLst/>
          </a:prstGeom>
        </p:spPr>
        <p:txBody>
          <a:bodyPr wrap="square" lIns="0" tIns="0" rIns="0" bIns="0" rtlCol="0" anchor="t">
            <a:spAutoFit/>
          </a:bodyPr>
          <a:lstStyle/>
          <a:p>
            <a:pPr algn="l">
              <a:lnSpc>
                <a:spcPts val="2239"/>
              </a:lnSpc>
            </a:pPr>
            <a:r>
              <a:rPr lang="en-US" sz="2309" dirty="0">
                <a:solidFill>
                  <a:srgbClr val="000000"/>
                </a:solidFill>
                <a:latin typeface="Bricolage Grotesque"/>
                <a:ea typeface="Bricolage Grotesque"/>
                <a:cs typeface="Bricolage Grotesque"/>
                <a:sym typeface="Bricolage Grotesque"/>
              </a:rPr>
              <a:t>Presented By :</a:t>
            </a:r>
          </a:p>
        </p:txBody>
      </p:sp>
      <p:sp>
        <p:nvSpPr>
          <p:cNvPr id="25" name="TextBox 25"/>
          <p:cNvSpPr txBox="1"/>
          <p:nvPr/>
        </p:nvSpPr>
        <p:spPr>
          <a:xfrm>
            <a:off x="1367618" y="1174781"/>
            <a:ext cx="2518582" cy="217752"/>
          </a:xfrm>
          <a:prstGeom prst="rect">
            <a:avLst/>
          </a:prstGeom>
        </p:spPr>
        <p:txBody>
          <a:bodyPr wrap="square" lIns="0" tIns="0" rIns="0" bIns="0" rtlCol="0" anchor="t">
            <a:spAutoFit/>
          </a:bodyPr>
          <a:lstStyle/>
          <a:p>
            <a:pPr algn="l">
              <a:lnSpc>
                <a:spcPts val="1380"/>
              </a:lnSpc>
            </a:pPr>
            <a:r>
              <a:rPr lang="en-US" sz="2400" dirty="0">
                <a:solidFill>
                  <a:schemeClr val="accent3">
                    <a:lumMod val="50000"/>
                  </a:schemeClr>
                </a:solidFill>
                <a:latin typeface="Poppins"/>
                <a:ea typeface="Poppins"/>
                <a:cs typeface="Poppins"/>
                <a:sym typeface="Poppins"/>
              </a:rPr>
              <a:t>Traction Layer AI</a:t>
            </a:r>
            <a:endParaRPr lang="en-US" sz="2400" b="1" dirty="0">
              <a:solidFill>
                <a:schemeClr val="accent3">
                  <a:lumMod val="50000"/>
                </a:schemeClr>
              </a:solidFill>
              <a:latin typeface="Inter Bold"/>
              <a:ea typeface="Inter Bold"/>
              <a:cs typeface="Inter Bold"/>
              <a:sym typeface="Inter Bold"/>
            </a:endParaRPr>
          </a:p>
        </p:txBody>
      </p:sp>
      <p:sp>
        <p:nvSpPr>
          <p:cNvPr id="26" name="TextBox 26"/>
          <p:cNvSpPr txBox="1"/>
          <p:nvPr/>
        </p:nvSpPr>
        <p:spPr>
          <a:xfrm>
            <a:off x="1807645" y="8642454"/>
            <a:ext cx="2515795" cy="190052"/>
          </a:xfrm>
          <a:prstGeom prst="rect">
            <a:avLst/>
          </a:prstGeom>
        </p:spPr>
        <p:txBody>
          <a:bodyPr lIns="0" tIns="0" rIns="0" bIns="0" rtlCol="0" anchor="t">
            <a:spAutoFit/>
          </a:bodyPr>
          <a:lstStyle/>
          <a:p>
            <a:pPr algn="l">
              <a:lnSpc>
                <a:spcPts val="1380"/>
              </a:lnSpc>
            </a:pPr>
            <a:r>
              <a:rPr lang="en-US" sz="1600" dirty="0">
                <a:solidFill>
                  <a:schemeClr val="accent1">
                    <a:lumMod val="50000"/>
                  </a:schemeClr>
                </a:solidFill>
                <a:latin typeface="Poppins"/>
                <a:ea typeface="Poppins"/>
                <a:cs typeface="Poppins"/>
                <a:sym typeface="Poppins"/>
              </a:rPr>
              <a:t>Guide: Prof. Vijay </a:t>
            </a:r>
            <a:r>
              <a:rPr lang="en-US" sz="1600" dirty="0" err="1">
                <a:solidFill>
                  <a:schemeClr val="accent1">
                    <a:lumMod val="50000"/>
                  </a:schemeClr>
                </a:solidFill>
                <a:latin typeface="Poppins"/>
                <a:ea typeface="Poppins"/>
                <a:cs typeface="Poppins"/>
                <a:sym typeface="Poppins"/>
              </a:rPr>
              <a:t>Biradar</a:t>
            </a:r>
            <a:endParaRPr lang="en-US" sz="1533" b="1" dirty="0">
              <a:solidFill>
                <a:schemeClr val="accent1">
                  <a:lumMod val="50000"/>
                </a:schemeClr>
              </a:solidFill>
              <a:latin typeface="Inter Bold"/>
              <a:ea typeface="Inter Bold"/>
              <a:cs typeface="Inter Bold"/>
              <a:sym typeface="Inter Bold"/>
            </a:endParaRPr>
          </a:p>
        </p:txBody>
      </p:sp>
      <p:graphicFrame>
        <p:nvGraphicFramePr>
          <p:cNvPr id="28" name="Table 27">
            <a:extLst>
              <a:ext uri="{FF2B5EF4-FFF2-40B4-BE49-F238E27FC236}">
                <a16:creationId xmlns:a16="http://schemas.microsoft.com/office/drawing/2014/main" id="{8293F1A4-0E06-31CD-890D-7CB6338C617A}"/>
              </a:ext>
            </a:extLst>
          </p:cNvPr>
          <p:cNvGraphicFramePr>
            <a:graphicFrameLocks noGrp="1"/>
          </p:cNvGraphicFramePr>
          <p:nvPr>
            <p:extLst>
              <p:ext uri="{D42A27DB-BD31-4B8C-83A1-F6EECF244321}">
                <p14:modId xmlns:p14="http://schemas.microsoft.com/office/powerpoint/2010/main" val="4025417070"/>
              </p:ext>
            </p:extLst>
          </p:nvPr>
        </p:nvGraphicFramePr>
        <p:xfrm>
          <a:off x="800274" y="5384981"/>
          <a:ext cx="8894212" cy="2638980"/>
        </p:xfrm>
        <a:graphic>
          <a:graphicData uri="http://schemas.openxmlformats.org/drawingml/2006/table">
            <a:tbl>
              <a:tblPr firstRow="1" bandRow="1">
                <a:tableStyleId>{21E4AEA4-8DFA-4A89-87EB-49C32662AFE0}</a:tableStyleId>
              </a:tblPr>
              <a:tblGrid>
                <a:gridCol w="4447106">
                  <a:extLst>
                    <a:ext uri="{9D8B030D-6E8A-4147-A177-3AD203B41FA5}">
                      <a16:colId xmlns:a16="http://schemas.microsoft.com/office/drawing/2014/main" val="589161424"/>
                    </a:ext>
                  </a:extLst>
                </a:gridCol>
                <a:gridCol w="4447106">
                  <a:extLst>
                    <a:ext uri="{9D8B030D-6E8A-4147-A177-3AD203B41FA5}">
                      <a16:colId xmlns:a16="http://schemas.microsoft.com/office/drawing/2014/main" val="635247731"/>
                    </a:ext>
                  </a:extLst>
                </a:gridCol>
              </a:tblGrid>
              <a:tr h="532170">
                <a:tc>
                  <a:txBody>
                    <a:bodyPr/>
                    <a:lstStyle/>
                    <a:p>
                      <a:r>
                        <a:rPr lang="en-US" dirty="0"/>
                        <a:t>Name</a:t>
                      </a:r>
                      <a:endParaRPr lang="en-IN" dirty="0"/>
                    </a:p>
                  </a:txBody>
                  <a:tcPr/>
                </a:tc>
                <a:tc>
                  <a:txBody>
                    <a:bodyPr/>
                    <a:lstStyle/>
                    <a:p>
                      <a:r>
                        <a:rPr lang="en-US" dirty="0"/>
                        <a:t>USN</a:t>
                      </a:r>
                      <a:endParaRPr lang="en-IN" dirty="0"/>
                    </a:p>
                  </a:txBody>
                  <a:tcPr/>
                </a:tc>
                <a:extLst>
                  <a:ext uri="{0D108BD9-81ED-4DB2-BD59-A6C34878D82A}">
                    <a16:rowId xmlns:a16="http://schemas.microsoft.com/office/drawing/2014/main" val="2932075053"/>
                  </a:ext>
                </a:extLst>
              </a:tr>
              <a:tr h="532170">
                <a:tc>
                  <a:txBody>
                    <a:bodyPr/>
                    <a:lstStyle/>
                    <a:p>
                      <a:r>
                        <a:rPr lang="en-US" dirty="0" err="1"/>
                        <a:t>Shrutika</a:t>
                      </a:r>
                      <a:r>
                        <a:rPr lang="en-US" dirty="0"/>
                        <a:t> </a:t>
                      </a:r>
                      <a:r>
                        <a:rPr lang="en-US" dirty="0" err="1"/>
                        <a:t>Ambure</a:t>
                      </a:r>
                      <a:endParaRPr lang="en-IN" dirty="0"/>
                    </a:p>
                  </a:txBody>
                  <a:tcPr/>
                </a:tc>
                <a:tc>
                  <a:txBody>
                    <a:bodyPr/>
                    <a:lstStyle/>
                    <a:p>
                      <a:r>
                        <a:rPr lang="en-US" dirty="0"/>
                        <a:t>01fe23bcs198</a:t>
                      </a:r>
                      <a:endParaRPr lang="en-IN" dirty="0"/>
                    </a:p>
                  </a:txBody>
                  <a:tcPr/>
                </a:tc>
                <a:extLst>
                  <a:ext uri="{0D108BD9-81ED-4DB2-BD59-A6C34878D82A}">
                    <a16:rowId xmlns:a16="http://schemas.microsoft.com/office/drawing/2014/main" val="3131454896"/>
                  </a:ext>
                </a:extLst>
              </a:tr>
              <a:tr h="524880">
                <a:tc>
                  <a:txBody>
                    <a:bodyPr/>
                    <a:lstStyle/>
                    <a:p>
                      <a:r>
                        <a:rPr lang="en-US" dirty="0"/>
                        <a:t>Sanjana </a:t>
                      </a:r>
                      <a:r>
                        <a:rPr lang="en-US" dirty="0" err="1"/>
                        <a:t>Shetti</a:t>
                      </a:r>
                      <a:endParaRPr lang="en-IN" dirty="0"/>
                    </a:p>
                  </a:txBody>
                  <a:tcPr/>
                </a:tc>
                <a:tc>
                  <a:txBody>
                    <a:bodyPr/>
                    <a:lstStyle/>
                    <a:p>
                      <a:r>
                        <a:rPr lang="en-US" dirty="0"/>
                        <a:t>01fe23bcs057</a:t>
                      </a:r>
                      <a:endParaRPr lang="en-IN" dirty="0"/>
                    </a:p>
                  </a:txBody>
                  <a:tcPr/>
                </a:tc>
                <a:extLst>
                  <a:ext uri="{0D108BD9-81ED-4DB2-BD59-A6C34878D82A}">
                    <a16:rowId xmlns:a16="http://schemas.microsoft.com/office/drawing/2014/main" val="3673104650"/>
                  </a:ext>
                </a:extLst>
              </a:tr>
              <a:tr h="524880">
                <a:tc>
                  <a:txBody>
                    <a:bodyPr/>
                    <a:lstStyle/>
                    <a:p>
                      <a:r>
                        <a:rPr lang="en-US" dirty="0"/>
                        <a:t>Pavan Nagesh</a:t>
                      </a:r>
                      <a:endParaRPr lang="en-IN" dirty="0"/>
                    </a:p>
                  </a:txBody>
                  <a:tcPr/>
                </a:tc>
                <a:tc>
                  <a:txBody>
                    <a:bodyPr/>
                    <a:lstStyle/>
                    <a:p>
                      <a:r>
                        <a:rPr lang="en-US" dirty="0"/>
                        <a:t>01fe24bcs402</a:t>
                      </a:r>
                      <a:endParaRPr lang="en-IN" dirty="0"/>
                    </a:p>
                  </a:txBody>
                  <a:tcPr/>
                </a:tc>
                <a:extLst>
                  <a:ext uri="{0D108BD9-81ED-4DB2-BD59-A6C34878D82A}">
                    <a16:rowId xmlns:a16="http://schemas.microsoft.com/office/drawing/2014/main" val="3185005239"/>
                  </a:ext>
                </a:extLst>
              </a:tr>
              <a:tr h="524880">
                <a:tc>
                  <a:txBody>
                    <a:bodyPr/>
                    <a:lstStyle/>
                    <a:p>
                      <a:r>
                        <a:rPr lang="en-US" dirty="0"/>
                        <a:t>Rohan  </a:t>
                      </a:r>
                      <a:r>
                        <a:rPr lang="en-US"/>
                        <a:t>Kabadi</a:t>
                      </a:r>
                      <a:endParaRPr lang="en-IN" dirty="0"/>
                    </a:p>
                  </a:txBody>
                  <a:tcPr/>
                </a:tc>
                <a:tc>
                  <a:txBody>
                    <a:bodyPr/>
                    <a:lstStyle/>
                    <a:p>
                      <a:r>
                        <a:rPr lang="en-US" dirty="0"/>
                        <a:t>01fe23bcs418</a:t>
                      </a:r>
                      <a:endParaRPr lang="en-IN" dirty="0"/>
                    </a:p>
                  </a:txBody>
                  <a:tcPr/>
                </a:tc>
                <a:extLst>
                  <a:ext uri="{0D108BD9-81ED-4DB2-BD59-A6C34878D82A}">
                    <a16:rowId xmlns:a16="http://schemas.microsoft.com/office/drawing/2014/main" val="1104055788"/>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1632" t="-29130" r="-14966"/>
            </a:stretch>
          </a:blipFill>
        </p:spPr>
      </p:sp>
      <p:sp>
        <p:nvSpPr>
          <p:cNvPr id="11" name="Freeform 11"/>
          <p:cNvSpPr/>
          <p:nvPr/>
        </p:nvSpPr>
        <p:spPr>
          <a:xfrm flipH="1">
            <a:off x="13913215" y="1028700"/>
            <a:ext cx="9365976" cy="9297860"/>
          </a:xfrm>
          <a:custGeom>
            <a:avLst/>
            <a:gdLst/>
            <a:ahLst/>
            <a:cxnLst/>
            <a:rect l="l" t="t" r="r" b="b"/>
            <a:pathLst>
              <a:path w="9365976" h="9297860">
                <a:moveTo>
                  <a:pt x="9365977" y="0"/>
                </a:moveTo>
                <a:lnTo>
                  <a:pt x="0" y="0"/>
                </a:lnTo>
                <a:lnTo>
                  <a:pt x="0" y="9297860"/>
                </a:lnTo>
                <a:lnTo>
                  <a:pt x="9365977" y="9297860"/>
                </a:lnTo>
                <a:lnTo>
                  <a:pt x="9365977" y="0"/>
                </a:lnTo>
                <a:close/>
              </a:path>
            </a:pathLst>
          </a:custGeom>
          <a:blipFill>
            <a:blip r:embed="rId3">
              <a:alphaModFix amt="81000"/>
              <a:extLst>
                <a:ext uri="{96DAC541-7B7A-43D3-8B79-37D633B846F1}">
                  <asvg:svgBlip xmlns:asvg="http://schemas.microsoft.com/office/drawing/2016/SVG/main" r:embed="rId4"/>
                </a:ext>
              </a:extLst>
            </a:blip>
            <a:stretch>
              <a:fillRect/>
            </a:stretch>
          </a:blipFill>
        </p:spPr>
      </p:sp>
      <p:sp>
        <p:nvSpPr>
          <p:cNvPr id="12" name="Freeform 12"/>
          <p:cNvSpPr/>
          <p:nvPr/>
        </p:nvSpPr>
        <p:spPr>
          <a:xfrm>
            <a:off x="840158" y="1197149"/>
            <a:ext cx="16411036" cy="8229600"/>
          </a:xfrm>
          <a:custGeom>
            <a:avLst/>
            <a:gdLst/>
            <a:ahLst/>
            <a:cxnLst/>
            <a:rect l="l" t="t" r="r" b="b"/>
            <a:pathLst>
              <a:path w="16411036" h="8229600">
                <a:moveTo>
                  <a:pt x="0" y="0"/>
                </a:moveTo>
                <a:lnTo>
                  <a:pt x="16411036" y="0"/>
                </a:lnTo>
                <a:lnTo>
                  <a:pt x="16411036" y="8229600"/>
                </a:lnTo>
                <a:lnTo>
                  <a:pt x="0" y="8229600"/>
                </a:lnTo>
                <a:lnTo>
                  <a:pt x="0" y="0"/>
                </a:lnTo>
                <a:close/>
              </a:path>
            </a:pathLst>
          </a:custGeom>
          <a:blipFill>
            <a:blip r:embed="rId5">
              <a:alphaModFix amt="76000"/>
            </a:blip>
            <a:stretch>
              <a:fillRect t="-200677" r="-77874" b="-200677"/>
            </a:stretch>
          </a:blipFill>
        </p:spPr>
      </p:sp>
      <p:sp>
        <p:nvSpPr>
          <p:cNvPr id="17" name="Freeform 17"/>
          <p:cNvSpPr/>
          <p:nvPr/>
        </p:nvSpPr>
        <p:spPr>
          <a:xfrm>
            <a:off x="1028700" y="1805857"/>
            <a:ext cx="5950445" cy="8914525"/>
          </a:xfrm>
          <a:custGeom>
            <a:avLst/>
            <a:gdLst/>
            <a:ahLst/>
            <a:cxnLst/>
            <a:rect l="l" t="t" r="r" b="b"/>
            <a:pathLst>
              <a:path w="5950445" h="8914525">
                <a:moveTo>
                  <a:pt x="0" y="0"/>
                </a:moveTo>
                <a:lnTo>
                  <a:pt x="5950445" y="0"/>
                </a:lnTo>
                <a:lnTo>
                  <a:pt x="5950445" y="8914525"/>
                </a:lnTo>
                <a:lnTo>
                  <a:pt x="0" y="8914525"/>
                </a:lnTo>
                <a:lnTo>
                  <a:pt x="0" y="0"/>
                </a:lnTo>
                <a:close/>
              </a:path>
            </a:pathLst>
          </a:custGeom>
          <a:blipFill>
            <a:blip r:embed="rId6">
              <a:alphaModFix amt="47000"/>
            </a:blip>
            <a:stretch>
              <a:fillRect/>
            </a:stretch>
          </a:blipFill>
        </p:spPr>
      </p:sp>
      <p:sp>
        <p:nvSpPr>
          <p:cNvPr id="21" name="TextBox 21"/>
          <p:cNvSpPr txBox="1"/>
          <p:nvPr/>
        </p:nvSpPr>
        <p:spPr>
          <a:xfrm>
            <a:off x="7766447" y="2181940"/>
            <a:ext cx="9492853" cy="632096"/>
          </a:xfrm>
          <a:prstGeom prst="rect">
            <a:avLst/>
          </a:prstGeom>
        </p:spPr>
        <p:txBody>
          <a:bodyPr lIns="0" tIns="0" rIns="0" bIns="0" rtlCol="0" anchor="t">
            <a:spAutoFit/>
          </a:bodyPr>
          <a:lstStyle/>
          <a:p>
            <a:pPr algn="l">
              <a:lnSpc>
                <a:spcPts val="4775"/>
              </a:lnSpc>
            </a:pPr>
            <a:r>
              <a:rPr lang="en-US" sz="4923" b="1" dirty="0">
                <a:solidFill>
                  <a:srgbClr val="000000"/>
                </a:solidFill>
                <a:latin typeface="Bricolage Grotesque Bold"/>
                <a:ea typeface="Bricolage Grotesque Bold"/>
                <a:cs typeface="Bricolage Grotesque Bold"/>
                <a:sym typeface="Bricolage Grotesque Bold"/>
              </a:rPr>
              <a:t>Literature Survey</a:t>
            </a:r>
          </a:p>
        </p:txBody>
      </p:sp>
      <p:sp>
        <p:nvSpPr>
          <p:cNvPr id="23" name="Freeform 23"/>
          <p:cNvSpPr/>
          <p:nvPr/>
        </p:nvSpPr>
        <p:spPr>
          <a:xfrm flipH="1">
            <a:off x="1028700" y="3871442"/>
            <a:ext cx="5950445" cy="6455118"/>
          </a:xfrm>
          <a:custGeom>
            <a:avLst/>
            <a:gdLst/>
            <a:ahLst/>
            <a:cxnLst/>
            <a:rect l="l" t="t" r="r" b="b"/>
            <a:pathLst>
              <a:path w="5950445" h="6455118">
                <a:moveTo>
                  <a:pt x="5950445" y="0"/>
                </a:moveTo>
                <a:lnTo>
                  <a:pt x="0" y="0"/>
                </a:lnTo>
                <a:lnTo>
                  <a:pt x="0" y="6455118"/>
                </a:lnTo>
                <a:lnTo>
                  <a:pt x="5950445" y="6455118"/>
                </a:lnTo>
                <a:lnTo>
                  <a:pt x="5950445"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4" name="Rectangle 1">
            <a:extLst>
              <a:ext uri="{FF2B5EF4-FFF2-40B4-BE49-F238E27FC236}">
                <a16:creationId xmlns:a16="http://schemas.microsoft.com/office/drawing/2014/main" id="{8D333BDF-836C-188F-731D-DFA9AE90D97C}"/>
              </a:ext>
            </a:extLst>
          </p:cNvPr>
          <p:cNvSpPr>
            <a:spLocks noChangeArrowheads="1"/>
          </p:cNvSpPr>
          <p:nvPr/>
        </p:nvSpPr>
        <p:spPr bwMode="auto">
          <a:xfrm>
            <a:off x="7315200" y="2935954"/>
            <a:ext cx="9601200"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buFontTx/>
              <a:buChar char="•"/>
            </a:pPr>
            <a:r>
              <a:rPr kumimoji="0" lang="en-US" altLang="en-US" sz="2000" b="0" i="0" u="none" strike="noStrike" cap="none" normalizeH="0" baseline="0" dirty="0">
                <a:ln>
                  <a:noFill/>
                </a:ln>
                <a:solidFill>
                  <a:schemeClr val="tx1"/>
                </a:solidFill>
                <a:effectLst/>
                <a:latin typeface="Arial" panose="020B0604020202020204" pitchFamily="34" charset="0"/>
              </a:rPr>
              <a:t>Traditional clinical documentation is performed manually, which is time-consuming and increases the workload of doctors.</a:t>
            </a:r>
          </a:p>
          <a:p>
            <a:pPr eaLnBrk="0" fontAlgn="base" hangingPunct="0">
              <a:spcBef>
                <a:spcPct val="0"/>
              </a:spcBef>
              <a:spcAft>
                <a:spcPct val="0"/>
              </a:spcAf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Existing Speech-to-Text (ASR) systems convert doctor–patient conversations into text but do not generate structured medical records.</a:t>
            </a:r>
          </a:p>
          <a:p>
            <a:pPr marL="0" marR="0" lvl="0" indent="0"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Most current systems lack speaker </a:t>
            </a:r>
            <a:r>
              <a:rPr kumimoji="0" lang="en-US" altLang="en-US" sz="2000" b="0" i="0" u="none" strike="noStrike" cap="none" normalizeH="0" baseline="0" dirty="0" err="1">
                <a:ln>
                  <a:noFill/>
                </a:ln>
                <a:solidFill>
                  <a:schemeClr val="tx1"/>
                </a:solidFill>
                <a:effectLst/>
                <a:latin typeface="Arial" panose="020B0604020202020204" pitchFamily="34" charset="0"/>
              </a:rPr>
              <a:t>diarization</a:t>
            </a:r>
            <a:r>
              <a:rPr kumimoji="0" lang="en-US" altLang="en-US" sz="2000" b="0" i="0" u="none" strike="noStrike" cap="none" normalizeH="0" baseline="0" dirty="0">
                <a:ln>
                  <a:noFill/>
                </a:ln>
                <a:solidFill>
                  <a:schemeClr val="tx1"/>
                </a:solidFill>
                <a:effectLst/>
                <a:latin typeface="Arial" panose="020B0604020202020204" pitchFamily="34" charset="0"/>
              </a:rPr>
              <a:t> and cannot accurately distinguish between doctor and patient speech.</a:t>
            </a:r>
          </a:p>
          <a:p>
            <a:pPr marL="0" marR="0" lvl="0" indent="0"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Recent studies have used Large Language Models (LLMs) to extract clinical entities and generate SOAP notes from medical conversations.</a:t>
            </a:r>
          </a:p>
          <a:p>
            <a:pPr marL="0" marR="0" lvl="0" indent="0"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Retrieval-Augmented Generation (RAG) techniques improve access to historical patient records by combining semantic search and information retrieval.</a:t>
            </a:r>
          </a:p>
          <a:p>
            <a:pPr marL="0" marR="0" lvl="0" indent="0"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However, existing solutions usually focus on individual tasks and do not provide a complete end-to-end system integrating transcription, speaker identification, SOAP generation, privacy protection, and continuity-aware retrieval.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09600" y="-21424"/>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solidFill>
            <a:schemeClr val="accent5">
              <a:lumMod val="20000"/>
              <a:lumOff val="80000"/>
            </a:schemeClr>
          </a:solidFill>
        </p:spPr>
      </p:sp>
      <p:sp>
        <p:nvSpPr>
          <p:cNvPr id="11" name="Freeform 11"/>
          <p:cNvSpPr/>
          <p:nvPr/>
        </p:nvSpPr>
        <p:spPr>
          <a:xfrm flipH="1">
            <a:off x="13913215" y="1028700"/>
            <a:ext cx="9365976" cy="9297860"/>
          </a:xfrm>
          <a:custGeom>
            <a:avLst/>
            <a:gdLst/>
            <a:ahLst/>
            <a:cxnLst/>
            <a:rect l="l" t="t" r="r" b="b"/>
            <a:pathLst>
              <a:path w="9365976" h="9297860">
                <a:moveTo>
                  <a:pt x="9365977" y="0"/>
                </a:moveTo>
                <a:lnTo>
                  <a:pt x="0" y="0"/>
                </a:lnTo>
                <a:lnTo>
                  <a:pt x="0" y="9297860"/>
                </a:lnTo>
                <a:lnTo>
                  <a:pt x="9365977" y="9297860"/>
                </a:lnTo>
                <a:lnTo>
                  <a:pt x="9365977" y="0"/>
                </a:lnTo>
                <a:close/>
              </a:path>
            </a:pathLst>
          </a:custGeom>
          <a:blipFill>
            <a:blip r:embed="rId2">
              <a:alphaModFix amt="81000"/>
              <a:extLst>
                <a:ext uri="{96DAC541-7B7A-43D3-8B79-37D633B846F1}">
                  <asvg:svgBlip xmlns:asvg="http://schemas.microsoft.com/office/drawing/2016/SVG/main" r:embed="rId3"/>
                </a:ext>
              </a:extLst>
            </a:blip>
            <a:stretch>
              <a:fillRect/>
            </a:stretch>
          </a:blipFill>
        </p:spPr>
      </p:sp>
      <p:sp>
        <p:nvSpPr>
          <p:cNvPr id="12" name="Freeform 12"/>
          <p:cNvSpPr/>
          <p:nvPr/>
        </p:nvSpPr>
        <p:spPr>
          <a:xfrm>
            <a:off x="848264" y="1028700"/>
            <a:ext cx="16411036" cy="8229600"/>
          </a:xfrm>
          <a:custGeom>
            <a:avLst/>
            <a:gdLst/>
            <a:ahLst/>
            <a:cxnLst/>
            <a:rect l="l" t="t" r="r" b="b"/>
            <a:pathLst>
              <a:path w="16411036" h="8229600">
                <a:moveTo>
                  <a:pt x="0" y="0"/>
                </a:moveTo>
                <a:lnTo>
                  <a:pt x="16411036" y="0"/>
                </a:lnTo>
                <a:lnTo>
                  <a:pt x="16411036" y="8229600"/>
                </a:lnTo>
                <a:lnTo>
                  <a:pt x="0" y="8229600"/>
                </a:lnTo>
                <a:lnTo>
                  <a:pt x="0" y="0"/>
                </a:lnTo>
                <a:close/>
              </a:path>
            </a:pathLst>
          </a:custGeom>
          <a:blipFill>
            <a:blip r:embed="rId4">
              <a:alphaModFix amt="76000"/>
            </a:blip>
            <a:stretch>
              <a:fillRect t="-200677" r="-77874" b="-200677"/>
            </a:stretch>
          </a:blipFill>
        </p:spPr>
      </p:sp>
      <p:sp>
        <p:nvSpPr>
          <p:cNvPr id="17" name="Freeform 17"/>
          <p:cNvSpPr/>
          <p:nvPr/>
        </p:nvSpPr>
        <p:spPr>
          <a:xfrm flipV="1">
            <a:off x="1028700" y="1048480"/>
            <a:ext cx="5965628" cy="9258300"/>
          </a:xfrm>
          <a:custGeom>
            <a:avLst/>
            <a:gdLst/>
            <a:ahLst/>
            <a:cxnLst/>
            <a:rect l="l" t="t" r="r" b="b"/>
            <a:pathLst>
              <a:path w="5965628" h="9258300">
                <a:moveTo>
                  <a:pt x="0" y="9258300"/>
                </a:moveTo>
                <a:lnTo>
                  <a:pt x="5965628" y="9258300"/>
                </a:lnTo>
                <a:lnTo>
                  <a:pt x="5965628" y="0"/>
                </a:lnTo>
                <a:lnTo>
                  <a:pt x="0" y="0"/>
                </a:lnTo>
                <a:lnTo>
                  <a:pt x="0" y="9258300"/>
                </a:lnTo>
                <a:close/>
              </a:path>
            </a:pathLst>
          </a:custGeom>
          <a:blipFill>
            <a:blip r:embed="rId5">
              <a:alphaModFix amt="57000"/>
            </a:blip>
            <a:stretch>
              <a:fillRect l="-55194"/>
            </a:stretch>
          </a:blipFill>
        </p:spPr>
      </p:sp>
      <p:sp>
        <p:nvSpPr>
          <p:cNvPr id="18" name="Freeform 18"/>
          <p:cNvSpPr/>
          <p:nvPr/>
        </p:nvSpPr>
        <p:spPr>
          <a:xfrm>
            <a:off x="4555737" y="2208711"/>
            <a:ext cx="2178141" cy="6475554"/>
          </a:xfrm>
          <a:custGeom>
            <a:avLst/>
            <a:gdLst/>
            <a:ahLst/>
            <a:cxnLst/>
            <a:rect l="l" t="t" r="r" b="b"/>
            <a:pathLst>
              <a:path w="2178141" h="6475554">
                <a:moveTo>
                  <a:pt x="0" y="0"/>
                </a:moveTo>
                <a:lnTo>
                  <a:pt x="2178141" y="0"/>
                </a:lnTo>
                <a:lnTo>
                  <a:pt x="2178141" y="6475555"/>
                </a:lnTo>
                <a:lnTo>
                  <a:pt x="0" y="647555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9" name="Freeform 19"/>
          <p:cNvSpPr/>
          <p:nvPr/>
        </p:nvSpPr>
        <p:spPr>
          <a:xfrm>
            <a:off x="994862" y="5869211"/>
            <a:ext cx="5999466" cy="4417789"/>
          </a:xfrm>
          <a:custGeom>
            <a:avLst/>
            <a:gdLst/>
            <a:ahLst/>
            <a:cxnLst/>
            <a:rect l="l" t="t" r="r" b="b"/>
            <a:pathLst>
              <a:path w="5999466" h="4417789">
                <a:moveTo>
                  <a:pt x="0" y="0"/>
                </a:moveTo>
                <a:lnTo>
                  <a:pt x="5999466" y="0"/>
                </a:lnTo>
                <a:lnTo>
                  <a:pt x="5999466" y="4417789"/>
                </a:lnTo>
                <a:lnTo>
                  <a:pt x="0" y="441778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0" name="TextBox 20"/>
          <p:cNvSpPr txBox="1"/>
          <p:nvPr/>
        </p:nvSpPr>
        <p:spPr>
          <a:xfrm>
            <a:off x="7723409" y="3833342"/>
            <a:ext cx="7748269" cy="3282950"/>
          </a:xfrm>
          <a:prstGeom prst="rect">
            <a:avLst/>
          </a:prstGeom>
        </p:spPr>
        <p:txBody>
          <a:bodyPr lIns="0" tIns="0" rIns="0" bIns="0" rtlCol="0" anchor="t">
            <a:spAutoFit/>
          </a:bodyPr>
          <a:lstStyle/>
          <a:p>
            <a:pPr algn="l">
              <a:lnSpc>
                <a:spcPts val="3192"/>
              </a:lnSpc>
            </a:pPr>
            <a:r>
              <a:rPr lang="en-US" sz="2800" dirty="0"/>
              <a:t>Our project addresses the challenge of manual clinical documentation, which is time-consuming and increases doctors' workload. Existing systems mainly provide speech transcription and lack structured clinical documentation. Therefore, an AI-based solution is developed to automatically generate accurate SOAP notes from doctor–patient conversations.</a:t>
            </a:r>
            <a:endParaRPr lang="en-US" sz="2800" dirty="0">
              <a:solidFill>
                <a:srgbClr val="000000"/>
              </a:solidFill>
              <a:latin typeface="Inter"/>
              <a:ea typeface="Inter"/>
              <a:cs typeface="Inter"/>
              <a:sym typeface="Inter"/>
            </a:endParaRPr>
          </a:p>
        </p:txBody>
      </p:sp>
      <p:sp>
        <p:nvSpPr>
          <p:cNvPr id="21" name="Freeform 21"/>
          <p:cNvSpPr/>
          <p:nvPr/>
        </p:nvSpPr>
        <p:spPr>
          <a:xfrm>
            <a:off x="3109380" y="3421118"/>
            <a:ext cx="1446357" cy="1535708"/>
          </a:xfrm>
          <a:custGeom>
            <a:avLst/>
            <a:gdLst/>
            <a:ahLst/>
            <a:cxnLst/>
            <a:rect l="l" t="t" r="r" b="b"/>
            <a:pathLst>
              <a:path w="1446357" h="1535708">
                <a:moveTo>
                  <a:pt x="0" y="0"/>
                </a:moveTo>
                <a:lnTo>
                  <a:pt x="1446357" y="0"/>
                </a:lnTo>
                <a:lnTo>
                  <a:pt x="1446357" y="1535707"/>
                </a:lnTo>
                <a:lnTo>
                  <a:pt x="0" y="1535707"/>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25" name="TextBox 25"/>
          <p:cNvSpPr txBox="1"/>
          <p:nvPr/>
        </p:nvSpPr>
        <p:spPr>
          <a:xfrm>
            <a:off x="7766447" y="2181940"/>
            <a:ext cx="9049500" cy="1247649"/>
          </a:xfrm>
          <a:prstGeom prst="rect">
            <a:avLst/>
          </a:prstGeom>
        </p:spPr>
        <p:txBody>
          <a:bodyPr lIns="0" tIns="0" rIns="0" bIns="0" rtlCol="0" anchor="t">
            <a:spAutoFit/>
          </a:bodyPr>
          <a:lstStyle/>
          <a:p>
            <a:pPr>
              <a:lnSpc>
                <a:spcPts val="4775"/>
              </a:lnSpc>
            </a:pPr>
            <a:r>
              <a:rPr lang="en-US" sz="4923" b="1" dirty="0">
                <a:solidFill>
                  <a:srgbClr val="000000"/>
                </a:solidFill>
                <a:latin typeface="Bricolage Grotesque Bold"/>
                <a:ea typeface="Bricolage Grotesque Bold"/>
                <a:cs typeface="Bricolage Grotesque Bold"/>
                <a:sym typeface="Bricolage Grotesque Bold"/>
              </a:rPr>
              <a:t>Problem Statement</a:t>
            </a:r>
          </a:p>
          <a:p>
            <a:pPr algn="l">
              <a:lnSpc>
                <a:spcPts val="4775"/>
              </a:lnSpc>
            </a:pPr>
            <a:endParaRPr lang="en-US" sz="4923" b="1" dirty="0">
              <a:solidFill>
                <a:srgbClr val="000000"/>
              </a:solidFill>
              <a:latin typeface="Bricolage Grotesque Bold"/>
              <a:ea typeface="Bricolage Grotesque Bold"/>
              <a:cs typeface="Bricolage Grotesque Bold"/>
              <a:sym typeface="Bricolage Grotesque Bold"/>
            </a:endParaRPr>
          </a:p>
        </p:txBody>
      </p:sp>
    </p:spTree>
    <p:extLst>
      <p:ext uri="{BB962C8B-B14F-4D97-AF65-F5344CB8AC3E}">
        <p14:creationId xmlns:p14="http://schemas.microsoft.com/office/powerpoint/2010/main" val="5142806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1666" b="-11666"/>
            </a:stretch>
          </a:blipFill>
        </p:spPr>
      </p:sp>
      <p:sp>
        <p:nvSpPr>
          <p:cNvPr id="9" name="TextBox 9"/>
          <p:cNvSpPr txBox="1"/>
          <p:nvPr/>
        </p:nvSpPr>
        <p:spPr>
          <a:xfrm>
            <a:off x="11398410" y="175813"/>
            <a:ext cx="3227888" cy="623827"/>
          </a:xfrm>
          <a:prstGeom prst="rect">
            <a:avLst/>
          </a:prstGeom>
        </p:spPr>
        <p:txBody>
          <a:bodyPr lIns="50800" tIns="50800" rIns="50800" bIns="50800" rtlCol="0" anchor="ctr"/>
          <a:lstStyle/>
          <a:p>
            <a:pPr algn="ctr">
              <a:lnSpc>
                <a:spcPts val="2659"/>
              </a:lnSpc>
              <a:spcBef>
                <a:spcPct val="0"/>
              </a:spcBef>
            </a:pPr>
            <a:endParaRPr/>
          </a:p>
        </p:txBody>
      </p:sp>
      <p:sp>
        <p:nvSpPr>
          <p:cNvPr id="11" name="Freeform 11"/>
          <p:cNvSpPr/>
          <p:nvPr/>
        </p:nvSpPr>
        <p:spPr>
          <a:xfrm>
            <a:off x="-3666343" y="1028700"/>
            <a:ext cx="7332686" cy="9249948"/>
          </a:xfrm>
          <a:custGeom>
            <a:avLst/>
            <a:gdLst/>
            <a:ahLst/>
            <a:cxnLst/>
            <a:rect l="l" t="t" r="r" b="b"/>
            <a:pathLst>
              <a:path w="7332686" h="9249948">
                <a:moveTo>
                  <a:pt x="0" y="0"/>
                </a:moveTo>
                <a:lnTo>
                  <a:pt x="7332686" y="0"/>
                </a:lnTo>
                <a:lnTo>
                  <a:pt x="7332686" y="9249948"/>
                </a:lnTo>
                <a:lnTo>
                  <a:pt x="0" y="9249948"/>
                </a:lnTo>
                <a:lnTo>
                  <a:pt x="0" y="0"/>
                </a:lnTo>
                <a:close/>
              </a:path>
            </a:pathLst>
          </a:custGeom>
          <a:blipFill>
            <a:blip r:embed="rId3">
              <a:alphaModFix amt="81000"/>
              <a:extLst>
                <a:ext uri="{96DAC541-7B7A-43D3-8B79-37D633B846F1}">
                  <asvg:svgBlip xmlns:asvg="http://schemas.microsoft.com/office/drawing/2016/SVG/main" r:embed="rId4"/>
                </a:ext>
              </a:extLst>
            </a:blip>
            <a:stretch>
              <a:fillRect/>
            </a:stretch>
          </a:blipFill>
        </p:spPr>
      </p:sp>
      <p:sp>
        <p:nvSpPr>
          <p:cNvPr id="12" name="Freeform 12"/>
          <p:cNvSpPr/>
          <p:nvPr/>
        </p:nvSpPr>
        <p:spPr>
          <a:xfrm>
            <a:off x="848264" y="1028700"/>
            <a:ext cx="16411036" cy="8229600"/>
          </a:xfrm>
          <a:custGeom>
            <a:avLst/>
            <a:gdLst/>
            <a:ahLst/>
            <a:cxnLst/>
            <a:rect l="l" t="t" r="r" b="b"/>
            <a:pathLst>
              <a:path w="16411036" h="8229600">
                <a:moveTo>
                  <a:pt x="0" y="0"/>
                </a:moveTo>
                <a:lnTo>
                  <a:pt x="16411036" y="0"/>
                </a:lnTo>
                <a:lnTo>
                  <a:pt x="16411036" y="8229600"/>
                </a:lnTo>
                <a:lnTo>
                  <a:pt x="0" y="8229600"/>
                </a:lnTo>
                <a:lnTo>
                  <a:pt x="0" y="0"/>
                </a:lnTo>
                <a:close/>
              </a:path>
            </a:pathLst>
          </a:custGeom>
          <a:blipFill>
            <a:blip r:embed="rId5">
              <a:alphaModFix amt="84000"/>
            </a:blip>
            <a:stretch>
              <a:fillRect t="-200677" r="-77874" b="-200677"/>
            </a:stretch>
          </a:blipFill>
        </p:spPr>
      </p:sp>
      <p:sp>
        <p:nvSpPr>
          <p:cNvPr id="17" name="Freeform 17"/>
          <p:cNvSpPr/>
          <p:nvPr/>
        </p:nvSpPr>
        <p:spPr>
          <a:xfrm>
            <a:off x="11308855" y="1909453"/>
            <a:ext cx="5950445" cy="8914525"/>
          </a:xfrm>
          <a:custGeom>
            <a:avLst/>
            <a:gdLst/>
            <a:ahLst/>
            <a:cxnLst/>
            <a:rect l="l" t="t" r="r" b="b"/>
            <a:pathLst>
              <a:path w="5950445" h="8914525">
                <a:moveTo>
                  <a:pt x="0" y="0"/>
                </a:moveTo>
                <a:lnTo>
                  <a:pt x="5950445" y="0"/>
                </a:lnTo>
                <a:lnTo>
                  <a:pt x="5950445" y="8914525"/>
                </a:lnTo>
                <a:lnTo>
                  <a:pt x="0" y="8914525"/>
                </a:lnTo>
                <a:lnTo>
                  <a:pt x="0" y="0"/>
                </a:lnTo>
                <a:close/>
              </a:path>
            </a:pathLst>
          </a:custGeom>
          <a:blipFill>
            <a:blip r:embed="rId6">
              <a:alphaModFix amt="43999"/>
            </a:blip>
            <a:stretch>
              <a:fillRect/>
            </a:stretch>
          </a:blipFill>
        </p:spPr>
      </p:sp>
      <p:sp>
        <p:nvSpPr>
          <p:cNvPr id="18" name="Freeform 18"/>
          <p:cNvSpPr/>
          <p:nvPr/>
        </p:nvSpPr>
        <p:spPr>
          <a:xfrm>
            <a:off x="2408217" y="3748024"/>
            <a:ext cx="8418063" cy="1137501"/>
          </a:xfrm>
          <a:custGeom>
            <a:avLst/>
            <a:gdLst/>
            <a:ahLst/>
            <a:cxnLst/>
            <a:rect l="l" t="t" r="r" b="b"/>
            <a:pathLst>
              <a:path w="8418063" h="1137501">
                <a:moveTo>
                  <a:pt x="0" y="0"/>
                </a:moveTo>
                <a:lnTo>
                  <a:pt x="8418063" y="0"/>
                </a:lnTo>
                <a:lnTo>
                  <a:pt x="8418063" y="1137501"/>
                </a:lnTo>
                <a:lnTo>
                  <a:pt x="0" y="1137501"/>
                </a:lnTo>
                <a:lnTo>
                  <a:pt x="0" y="0"/>
                </a:lnTo>
                <a:close/>
              </a:path>
            </a:pathLst>
          </a:custGeom>
          <a:blipFill>
            <a:blip r:embed="rId7"/>
            <a:stretch>
              <a:fillRect l="-62041" t="-977857" r="-30766" b="-1063784"/>
            </a:stretch>
          </a:blipFill>
        </p:spPr>
      </p:sp>
      <p:sp>
        <p:nvSpPr>
          <p:cNvPr id="19" name="Freeform 19"/>
          <p:cNvSpPr/>
          <p:nvPr/>
        </p:nvSpPr>
        <p:spPr>
          <a:xfrm>
            <a:off x="2408217" y="5124440"/>
            <a:ext cx="8418063" cy="1137501"/>
          </a:xfrm>
          <a:custGeom>
            <a:avLst/>
            <a:gdLst/>
            <a:ahLst/>
            <a:cxnLst/>
            <a:rect l="l" t="t" r="r" b="b"/>
            <a:pathLst>
              <a:path w="8418063" h="1137501">
                <a:moveTo>
                  <a:pt x="0" y="0"/>
                </a:moveTo>
                <a:lnTo>
                  <a:pt x="8418063" y="0"/>
                </a:lnTo>
                <a:lnTo>
                  <a:pt x="8418063" y="1137501"/>
                </a:lnTo>
                <a:lnTo>
                  <a:pt x="0" y="1137501"/>
                </a:lnTo>
                <a:lnTo>
                  <a:pt x="0" y="0"/>
                </a:lnTo>
                <a:close/>
              </a:path>
            </a:pathLst>
          </a:custGeom>
          <a:blipFill>
            <a:blip r:embed="rId7"/>
            <a:stretch>
              <a:fillRect l="-62041" t="-977857" r="-30766" b="-1063784"/>
            </a:stretch>
          </a:blipFill>
        </p:spPr>
      </p:sp>
      <p:sp>
        <p:nvSpPr>
          <p:cNvPr id="20" name="Freeform 20"/>
          <p:cNvSpPr/>
          <p:nvPr/>
        </p:nvSpPr>
        <p:spPr>
          <a:xfrm>
            <a:off x="2408217" y="6471491"/>
            <a:ext cx="8418063" cy="1137501"/>
          </a:xfrm>
          <a:custGeom>
            <a:avLst/>
            <a:gdLst/>
            <a:ahLst/>
            <a:cxnLst/>
            <a:rect l="l" t="t" r="r" b="b"/>
            <a:pathLst>
              <a:path w="8418063" h="1137501">
                <a:moveTo>
                  <a:pt x="0" y="0"/>
                </a:moveTo>
                <a:lnTo>
                  <a:pt x="8418063" y="0"/>
                </a:lnTo>
                <a:lnTo>
                  <a:pt x="8418063" y="1137501"/>
                </a:lnTo>
                <a:lnTo>
                  <a:pt x="0" y="1137501"/>
                </a:lnTo>
                <a:lnTo>
                  <a:pt x="0" y="0"/>
                </a:lnTo>
                <a:close/>
              </a:path>
            </a:pathLst>
          </a:custGeom>
          <a:blipFill>
            <a:blip r:embed="rId7"/>
            <a:stretch>
              <a:fillRect l="-62041" t="-977857" r="-30766" b="-1063784"/>
            </a:stretch>
          </a:blipFill>
        </p:spPr>
      </p:sp>
      <p:sp>
        <p:nvSpPr>
          <p:cNvPr id="21" name="Freeform 21"/>
          <p:cNvSpPr/>
          <p:nvPr/>
        </p:nvSpPr>
        <p:spPr>
          <a:xfrm>
            <a:off x="11184507" y="4510706"/>
            <a:ext cx="6467887" cy="5785819"/>
          </a:xfrm>
          <a:custGeom>
            <a:avLst/>
            <a:gdLst/>
            <a:ahLst/>
            <a:cxnLst/>
            <a:rect l="l" t="t" r="r" b="b"/>
            <a:pathLst>
              <a:path w="6467887" h="5785819">
                <a:moveTo>
                  <a:pt x="0" y="0"/>
                </a:moveTo>
                <a:lnTo>
                  <a:pt x="6467887" y="0"/>
                </a:lnTo>
                <a:lnTo>
                  <a:pt x="6467887" y="5785819"/>
                </a:lnTo>
                <a:lnTo>
                  <a:pt x="0" y="578581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5" name="TextBox 25"/>
          <p:cNvSpPr txBox="1"/>
          <p:nvPr/>
        </p:nvSpPr>
        <p:spPr>
          <a:xfrm>
            <a:off x="2408217" y="2014228"/>
            <a:ext cx="9492853" cy="654603"/>
          </a:xfrm>
          <a:prstGeom prst="rect">
            <a:avLst/>
          </a:prstGeom>
        </p:spPr>
        <p:txBody>
          <a:bodyPr lIns="0" tIns="0" rIns="0" bIns="0" rtlCol="0" anchor="t">
            <a:spAutoFit/>
          </a:bodyPr>
          <a:lstStyle/>
          <a:p>
            <a:pPr algn="l">
              <a:lnSpc>
                <a:spcPts val="4775"/>
              </a:lnSpc>
            </a:pPr>
            <a:r>
              <a:rPr lang="en-IN" sz="5600" dirty="0"/>
              <a:t>Scope</a:t>
            </a:r>
            <a:endParaRPr lang="en-US" sz="5600" b="1" dirty="0">
              <a:solidFill>
                <a:srgbClr val="000000"/>
              </a:solidFill>
              <a:latin typeface="Bricolage Grotesque Bold"/>
              <a:ea typeface="Bricolage Grotesque Bold"/>
              <a:cs typeface="Bricolage Grotesque Bold"/>
              <a:sym typeface="Bricolage Grotesque Bold"/>
            </a:endParaRPr>
          </a:p>
        </p:txBody>
      </p:sp>
      <p:sp>
        <p:nvSpPr>
          <p:cNvPr id="26" name="TextBox 26"/>
          <p:cNvSpPr txBox="1"/>
          <p:nvPr/>
        </p:nvSpPr>
        <p:spPr>
          <a:xfrm>
            <a:off x="2709756" y="3894253"/>
            <a:ext cx="6905103" cy="846386"/>
          </a:xfrm>
          <a:prstGeom prst="rect">
            <a:avLst/>
          </a:prstGeom>
        </p:spPr>
        <p:txBody>
          <a:bodyPr lIns="0" tIns="0" rIns="0" bIns="0" rtlCol="0" anchor="t">
            <a:spAutoFit/>
          </a:bodyPr>
          <a:lstStyle/>
          <a:p>
            <a:pPr marL="719528" lvl="1" indent="-457200" algn="l">
              <a:lnSpc>
                <a:spcPts val="3329"/>
              </a:lnSpc>
              <a:buFont typeface="Wingdings" panose="05000000000000000000" pitchFamily="2" charset="2"/>
              <a:buChar char="Ø"/>
            </a:pPr>
            <a:r>
              <a:rPr lang="en-IN" sz="2800" b="1" dirty="0"/>
              <a:t>Processing doctor–patient consultation audio.</a:t>
            </a:r>
            <a:endParaRPr lang="en-US" sz="2430" b="1" dirty="0">
              <a:solidFill>
                <a:srgbClr val="1F2B5B"/>
              </a:solidFill>
              <a:latin typeface="Inter Bold"/>
              <a:ea typeface="Inter Bold"/>
              <a:cs typeface="Inter Bold"/>
              <a:sym typeface="Inter Bold"/>
            </a:endParaRPr>
          </a:p>
        </p:txBody>
      </p:sp>
      <p:sp>
        <p:nvSpPr>
          <p:cNvPr id="27" name="TextBox 27"/>
          <p:cNvSpPr txBox="1"/>
          <p:nvPr/>
        </p:nvSpPr>
        <p:spPr>
          <a:xfrm>
            <a:off x="2709756" y="5270669"/>
            <a:ext cx="6905103" cy="846386"/>
          </a:xfrm>
          <a:prstGeom prst="rect">
            <a:avLst/>
          </a:prstGeom>
        </p:spPr>
        <p:txBody>
          <a:bodyPr lIns="0" tIns="0" rIns="0" bIns="0" rtlCol="0" anchor="t">
            <a:spAutoFit/>
          </a:bodyPr>
          <a:lstStyle/>
          <a:p>
            <a:pPr marL="719528" lvl="1" indent="-457200" algn="l">
              <a:lnSpc>
                <a:spcPts val="3329"/>
              </a:lnSpc>
              <a:buFont typeface="Wingdings" panose="05000000000000000000" pitchFamily="2" charset="2"/>
              <a:buChar char="Ø"/>
            </a:pPr>
            <a:r>
              <a:rPr lang="en-US" sz="2800" b="1" dirty="0"/>
              <a:t>Speech transcription and speaker identification.</a:t>
            </a:r>
            <a:endParaRPr lang="en-US" sz="2430" b="1" dirty="0">
              <a:solidFill>
                <a:srgbClr val="1F2B5B"/>
              </a:solidFill>
              <a:latin typeface="Inter Bold"/>
              <a:ea typeface="Inter Bold"/>
              <a:cs typeface="Inter Bold"/>
              <a:sym typeface="Inter Bold"/>
            </a:endParaRPr>
          </a:p>
        </p:txBody>
      </p:sp>
      <p:sp>
        <p:nvSpPr>
          <p:cNvPr id="28" name="TextBox 28"/>
          <p:cNvSpPr txBox="1"/>
          <p:nvPr/>
        </p:nvSpPr>
        <p:spPr>
          <a:xfrm>
            <a:off x="2709756" y="6617720"/>
            <a:ext cx="6905103" cy="846386"/>
          </a:xfrm>
          <a:prstGeom prst="rect">
            <a:avLst/>
          </a:prstGeom>
        </p:spPr>
        <p:txBody>
          <a:bodyPr lIns="0" tIns="0" rIns="0" bIns="0" rtlCol="0" anchor="t">
            <a:spAutoFit/>
          </a:bodyPr>
          <a:lstStyle/>
          <a:p>
            <a:pPr marL="719528" lvl="1" indent="-457200" algn="l">
              <a:lnSpc>
                <a:spcPts val="3329"/>
              </a:lnSpc>
              <a:buFont typeface="Wingdings" panose="05000000000000000000" pitchFamily="2" charset="2"/>
              <a:buChar char="Ø"/>
            </a:pPr>
            <a:r>
              <a:rPr lang="en-US" sz="2800" b="1" dirty="0"/>
              <a:t>Clinical entity extraction and SOAP note generation.</a:t>
            </a:r>
            <a:endParaRPr lang="en-US" sz="2430" b="1" dirty="0">
              <a:solidFill>
                <a:srgbClr val="1F2B5B"/>
              </a:solidFill>
              <a:latin typeface="Inter Bold"/>
              <a:ea typeface="Inter Bold"/>
              <a:cs typeface="Inter Bold"/>
              <a:sym typeface="Inter Bold"/>
            </a:endParaRPr>
          </a:p>
        </p:txBody>
      </p:sp>
      <p:sp>
        <p:nvSpPr>
          <p:cNvPr id="29" name="Freeform 20">
            <a:extLst>
              <a:ext uri="{FF2B5EF4-FFF2-40B4-BE49-F238E27FC236}">
                <a16:creationId xmlns:a16="http://schemas.microsoft.com/office/drawing/2014/main" id="{271B441A-5055-FA1D-F4CD-E3A4920DB836}"/>
              </a:ext>
            </a:extLst>
          </p:cNvPr>
          <p:cNvSpPr/>
          <p:nvPr/>
        </p:nvSpPr>
        <p:spPr>
          <a:xfrm>
            <a:off x="2365178" y="7755221"/>
            <a:ext cx="8418063" cy="1415135"/>
          </a:xfrm>
          <a:custGeom>
            <a:avLst/>
            <a:gdLst/>
            <a:ahLst/>
            <a:cxnLst/>
            <a:rect l="l" t="t" r="r" b="b"/>
            <a:pathLst>
              <a:path w="8418063" h="1137501">
                <a:moveTo>
                  <a:pt x="0" y="0"/>
                </a:moveTo>
                <a:lnTo>
                  <a:pt x="8418063" y="0"/>
                </a:lnTo>
                <a:lnTo>
                  <a:pt x="8418063" y="1137501"/>
                </a:lnTo>
                <a:lnTo>
                  <a:pt x="0" y="1137501"/>
                </a:lnTo>
                <a:lnTo>
                  <a:pt x="0" y="0"/>
                </a:lnTo>
                <a:close/>
              </a:path>
            </a:pathLst>
          </a:custGeom>
          <a:blipFill>
            <a:blip r:embed="rId7"/>
            <a:stretch>
              <a:fillRect l="-62041" t="-977857" r="-30766" b="-1063784"/>
            </a:stretch>
          </a:blipFill>
        </p:spPr>
      </p:sp>
      <p:sp>
        <p:nvSpPr>
          <p:cNvPr id="31" name="TextBox 28">
            <a:extLst>
              <a:ext uri="{FF2B5EF4-FFF2-40B4-BE49-F238E27FC236}">
                <a16:creationId xmlns:a16="http://schemas.microsoft.com/office/drawing/2014/main" id="{CF023255-804B-9CD1-FC7A-D8208E8FDBE5}"/>
              </a:ext>
            </a:extLst>
          </p:cNvPr>
          <p:cNvSpPr txBox="1"/>
          <p:nvPr/>
        </p:nvSpPr>
        <p:spPr>
          <a:xfrm>
            <a:off x="2760090" y="7900778"/>
            <a:ext cx="7788811" cy="1269578"/>
          </a:xfrm>
          <a:prstGeom prst="rect">
            <a:avLst/>
          </a:prstGeom>
        </p:spPr>
        <p:txBody>
          <a:bodyPr wrap="square" lIns="0" tIns="0" rIns="0" bIns="0" rtlCol="0" anchor="t">
            <a:spAutoFit/>
          </a:bodyPr>
          <a:lstStyle/>
          <a:p>
            <a:pPr marL="719528" lvl="1" indent="-457200" algn="l">
              <a:lnSpc>
                <a:spcPts val="3329"/>
              </a:lnSpc>
              <a:buFont typeface="Wingdings" panose="05000000000000000000" pitchFamily="2" charset="2"/>
              <a:buChar char="Ø"/>
            </a:pPr>
            <a:r>
              <a:rPr lang="en-US" sz="2800" b="1" dirty="0"/>
              <a:t>The system protects patient privacy by hiding personal information and helps doctors access previous patient records when needed.</a:t>
            </a:r>
            <a:endParaRPr lang="en-US" sz="2430" b="1" dirty="0">
              <a:solidFill>
                <a:srgbClr val="1F2B5B"/>
              </a:solidFill>
              <a:latin typeface="Inter Bold"/>
              <a:ea typeface="Inter Bold"/>
              <a:cs typeface="Inter Bold"/>
              <a:sym typeface="Inter 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6569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1666" b="-11666"/>
            </a:stretch>
          </a:blipFill>
        </p:spPr>
      </p:sp>
      <p:sp>
        <p:nvSpPr>
          <p:cNvPr id="11" name="Freeform 11"/>
          <p:cNvSpPr/>
          <p:nvPr/>
        </p:nvSpPr>
        <p:spPr>
          <a:xfrm>
            <a:off x="-3666343" y="1028700"/>
            <a:ext cx="7332686" cy="9249948"/>
          </a:xfrm>
          <a:custGeom>
            <a:avLst/>
            <a:gdLst/>
            <a:ahLst/>
            <a:cxnLst/>
            <a:rect l="l" t="t" r="r" b="b"/>
            <a:pathLst>
              <a:path w="7332686" h="9249948">
                <a:moveTo>
                  <a:pt x="0" y="0"/>
                </a:moveTo>
                <a:lnTo>
                  <a:pt x="7332686" y="0"/>
                </a:lnTo>
                <a:lnTo>
                  <a:pt x="7332686" y="9249948"/>
                </a:lnTo>
                <a:lnTo>
                  <a:pt x="0" y="9249948"/>
                </a:lnTo>
                <a:lnTo>
                  <a:pt x="0" y="0"/>
                </a:lnTo>
                <a:close/>
              </a:path>
            </a:pathLst>
          </a:custGeom>
          <a:blipFill>
            <a:blip r:embed="rId3">
              <a:alphaModFix amt="81000"/>
              <a:extLst>
                <a:ext uri="{96DAC541-7B7A-43D3-8B79-37D633B846F1}">
                  <asvg:svgBlip xmlns:asvg="http://schemas.microsoft.com/office/drawing/2016/SVG/main" r:embed="rId4"/>
                </a:ext>
              </a:extLst>
            </a:blip>
            <a:stretch>
              <a:fillRect/>
            </a:stretch>
          </a:blipFill>
        </p:spPr>
      </p:sp>
      <p:sp>
        <p:nvSpPr>
          <p:cNvPr id="12" name="Freeform 12"/>
          <p:cNvSpPr/>
          <p:nvPr/>
        </p:nvSpPr>
        <p:spPr>
          <a:xfrm>
            <a:off x="848264" y="1028700"/>
            <a:ext cx="16411036" cy="8229600"/>
          </a:xfrm>
          <a:custGeom>
            <a:avLst/>
            <a:gdLst/>
            <a:ahLst/>
            <a:cxnLst/>
            <a:rect l="l" t="t" r="r" b="b"/>
            <a:pathLst>
              <a:path w="16411036" h="8229600">
                <a:moveTo>
                  <a:pt x="0" y="0"/>
                </a:moveTo>
                <a:lnTo>
                  <a:pt x="16411036" y="0"/>
                </a:lnTo>
                <a:lnTo>
                  <a:pt x="16411036" y="8229600"/>
                </a:lnTo>
                <a:lnTo>
                  <a:pt x="0" y="8229600"/>
                </a:lnTo>
                <a:lnTo>
                  <a:pt x="0" y="0"/>
                </a:lnTo>
                <a:close/>
              </a:path>
            </a:pathLst>
          </a:custGeom>
          <a:blipFill>
            <a:blip r:embed="rId5">
              <a:alphaModFix amt="84000"/>
            </a:blip>
            <a:stretch>
              <a:fillRect t="-200677" r="-77874" b="-200677"/>
            </a:stretch>
          </a:blipFill>
        </p:spPr>
      </p:sp>
      <p:sp>
        <p:nvSpPr>
          <p:cNvPr id="17" name="Freeform 17"/>
          <p:cNvSpPr/>
          <p:nvPr/>
        </p:nvSpPr>
        <p:spPr>
          <a:xfrm>
            <a:off x="11308855" y="1909453"/>
            <a:ext cx="5950445" cy="8914525"/>
          </a:xfrm>
          <a:custGeom>
            <a:avLst/>
            <a:gdLst/>
            <a:ahLst/>
            <a:cxnLst/>
            <a:rect l="l" t="t" r="r" b="b"/>
            <a:pathLst>
              <a:path w="5950445" h="8914525">
                <a:moveTo>
                  <a:pt x="0" y="0"/>
                </a:moveTo>
                <a:lnTo>
                  <a:pt x="5950445" y="0"/>
                </a:lnTo>
                <a:lnTo>
                  <a:pt x="5950445" y="8914525"/>
                </a:lnTo>
                <a:lnTo>
                  <a:pt x="0" y="8914525"/>
                </a:lnTo>
                <a:lnTo>
                  <a:pt x="0" y="0"/>
                </a:lnTo>
                <a:close/>
              </a:path>
            </a:pathLst>
          </a:custGeom>
          <a:blipFill>
            <a:blip r:embed="rId6">
              <a:alphaModFix amt="43999"/>
            </a:blip>
            <a:stretch>
              <a:fillRect/>
            </a:stretch>
          </a:blipFill>
        </p:spPr>
      </p:sp>
      <p:sp>
        <p:nvSpPr>
          <p:cNvPr id="18" name="Freeform 18"/>
          <p:cNvSpPr/>
          <p:nvPr/>
        </p:nvSpPr>
        <p:spPr>
          <a:xfrm>
            <a:off x="2390990" y="3754275"/>
            <a:ext cx="8418063" cy="1137501"/>
          </a:xfrm>
          <a:custGeom>
            <a:avLst/>
            <a:gdLst/>
            <a:ahLst/>
            <a:cxnLst/>
            <a:rect l="l" t="t" r="r" b="b"/>
            <a:pathLst>
              <a:path w="8418063" h="1137501">
                <a:moveTo>
                  <a:pt x="0" y="0"/>
                </a:moveTo>
                <a:lnTo>
                  <a:pt x="8418063" y="0"/>
                </a:lnTo>
                <a:lnTo>
                  <a:pt x="8418063" y="1137501"/>
                </a:lnTo>
                <a:lnTo>
                  <a:pt x="0" y="1137501"/>
                </a:lnTo>
                <a:lnTo>
                  <a:pt x="0" y="0"/>
                </a:lnTo>
                <a:close/>
              </a:path>
            </a:pathLst>
          </a:custGeom>
          <a:blipFill>
            <a:blip r:embed="rId7"/>
            <a:stretch>
              <a:fillRect l="-62041" t="-977857" r="-30766" b="-1063784"/>
            </a:stretch>
          </a:blipFill>
        </p:spPr>
      </p:sp>
      <p:sp>
        <p:nvSpPr>
          <p:cNvPr id="19" name="Freeform 19"/>
          <p:cNvSpPr/>
          <p:nvPr/>
        </p:nvSpPr>
        <p:spPr>
          <a:xfrm>
            <a:off x="2365178" y="5124440"/>
            <a:ext cx="8461102" cy="1200822"/>
          </a:xfrm>
          <a:custGeom>
            <a:avLst/>
            <a:gdLst/>
            <a:ahLst/>
            <a:cxnLst/>
            <a:rect l="l" t="t" r="r" b="b"/>
            <a:pathLst>
              <a:path w="8418063" h="1137501">
                <a:moveTo>
                  <a:pt x="0" y="0"/>
                </a:moveTo>
                <a:lnTo>
                  <a:pt x="8418063" y="0"/>
                </a:lnTo>
                <a:lnTo>
                  <a:pt x="8418063" y="1137501"/>
                </a:lnTo>
                <a:lnTo>
                  <a:pt x="0" y="1137501"/>
                </a:lnTo>
                <a:lnTo>
                  <a:pt x="0" y="0"/>
                </a:lnTo>
                <a:close/>
              </a:path>
            </a:pathLst>
          </a:custGeom>
          <a:blipFill>
            <a:blip r:embed="rId7"/>
            <a:stretch>
              <a:fillRect l="-62041" t="-977857" r="-30766" b="-1063784"/>
            </a:stretch>
          </a:blipFill>
        </p:spPr>
      </p:sp>
      <p:sp>
        <p:nvSpPr>
          <p:cNvPr id="20" name="Freeform 20"/>
          <p:cNvSpPr/>
          <p:nvPr/>
        </p:nvSpPr>
        <p:spPr>
          <a:xfrm>
            <a:off x="2365178" y="6471491"/>
            <a:ext cx="8461102" cy="1137502"/>
          </a:xfrm>
          <a:custGeom>
            <a:avLst/>
            <a:gdLst/>
            <a:ahLst/>
            <a:cxnLst/>
            <a:rect l="l" t="t" r="r" b="b"/>
            <a:pathLst>
              <a:path w="8418063" h="1137501">
                <a:moveTo>
                  <a:pt x="0" y="0"/>
                </a:moveTo>
                <a:lnTo>
                  <a:pt x="8418063" y="0"/>
                </a:lnTo>
                <a:lnTo>
                  <a:pt x="8418063" y="1137501"/>
                </a:lnTo>
                <a:lnTo>
                  <a:pt x="0" y="1137501"/>
                </a:lnTo>
                <a:lnTo>
                  <a:pt x="0" y="0"/>
                </a:lnTo>
                <a:close/>
              </a:path>
            </a:pathLst>
          </a:custGeom>
          <a:blipFill>
            <a:blip r:embed="rId7"/>
            <a:stretch>
              <a:fillRect l="-62041" t="-977857" r="-30766" b="-1063784"/>
            </a:stretch>
          </a:blipFill>
        </p:spPr>
        <p:txBody>
          <a:bodyPr/>
          <a:lstStyle/>
          <a:p>
            <a:endParaRPr lang="en-IN" dirty="0"/>
          </a:p>
        </p:txBody>
      </p:sp>
      <p:sp>
        <p:nvSpPr>
          <p:cNvPr id="21" name="Freeform 21"/>
          <p:cNvSpPr/>
          <p:nvPr/>
        </p:nvSpPr>
        <p:spPr>
          <a:xfrm>
            <a:off x="11100399" y="4375104"/>
            <a:ext cx="6467887" cy="5785819"/>
          </a:xfrm>
          <a:custGeom>
            <a:avLst/>
            <a:gdLst/>
            <a:ahLst/>
            <a:cxnLst/>
            <a:rect l="l" t="t" r="r" b="b"/>
            <a:pathLst>
              <a:path w="6467887" h="5785819">
                <a:moveTo>
                  <a:pt x="0" y="0"/>
                </a:moveTo>
                <a:lnTo>
                  <a:pt x="6467887" y="0"/>
                </a:lnTo>
                <a:lnTo>
                  <a:pt x="6467887" y="5785819"/>
                </a:lnTo>
                <a:lnTo>
                  <a:pt x="0" y="578581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5" name="TextBox 25"/>
          <p:cNvSpPr txBox="1"/>
          <p:nvPr/>
        </p:nvSpPr>
        <p:spPr>
          <a:xfrm>
            <a:off x="2301412" y="1642259"/>
            <a:ext cx="9492853" cy="632096"/>
          </a:xfrm>
          <a:prstGeom prst="rect">
            <a:avLst/>
          </a:prstGeom>
        </p:spPr>
        <p:txBody>
          <a:bodyPr lIns="0" tIns="0" rIns="0" bIns="0" rtlCol="0" anchor="t">
            <a:spAutoFit/>
          </a:bodyPr>
          <a:lstStyle/>
          <a:p>
            <a:pPr algn="l">
              <a:lnSpc>
                <a:spcPts val="4775"/>
              </a:lnSpc>
            </a:pPr>
            <a:r>
              <a:rPr lang="en-US" sz="4923" b="1" dirty="0">
                <a:solidFill>
                  <a:srgbClr val="000000"/>
                </a:solidFill>
                <a:latin typeface="Bricolage Grotesque Bold"/>
                <a:ea typeface="Bricolage Grotesque Bold"/>
                <a:cs typeface="Bricolage Grotesque Bold"/>
                <a:sym typeface="Bricolage Grotesque Bold"/>
              </a:rPr>
              <a:t>Objectives</a:t>
            </a:r>
          </a:p>
        </p:txBody>
      </p:sp>
      <p:sp>
        <p:nvSpPr>
          <p:cNvPr id="26" name="TextBox 26"/>
          <p:cNvSpPr txBox="1"/>
          <p:nvPr/>
        </p:nvSpPr>
        <p:spPr>
          <a:xfrm>
            <a:off x="2301412" y="3808051"/>
            <a:ext cx="8481829" cy="813364"/>
          </a:xfrm>
          <a:prstGeom prst="rect">
            <a:avLst/>
          </a:prstGeom>
        </p:spPr>
        <p:txBody>
          <a:bodyPr wrap="square" lIns="0" tIns="0" rIns="0" bIns="0" rtlCol="0" anchor="t">
            <a:spAutoFit/>
          </a:bodyPr>
          <a:lstStyle/>
          <a:p>
            <a:pPr marL="605228" lvl="1" indent="-342900" algn="l">
              <a:lnSpc>
                <a:spcPts val="3329"/>
              </a:lnSpc>
              <a:buFont typeface="Wingdings" panose="05000000000000000000" pitchFamily="2" charset="2"/>
              <a:buChar char="Ø"/>
            </a:pPr>
            <a:r>
              <a:rPr lang="en-US" sz="2200" b="1" dirty="0"/>
              <a:t>To implement  ASR, speaker </a:t>
            </a:r>
            <a:r>
              <a:rPr lang="en-US" sz="2200" b="1" dirty="0" err="1"/>
              <a:t>diarization</a:t>
            </a:r>
            <a:r>
              <a:rPr lang="en-US" sz="2200" b="1" dirty="0"/>
              <a:t>, semantic analysis for accurate consultation processing and speaker identification.</a:t>
            </a:r>
            <a:endParaRPr lang="en-US" sz="2200" b="1" dirty="0">
              <a:solidFill>
                <a:srgbClr val="1F2B5B"/>
              </a:solidFill>
              <a:latin typeface="Inter Bold"/>
              <a:ea typeface="Inter Bold"/>
              <a:cs typeface="Inter Bold"/>
              <a:sym typeface="Inter Bold"/>
            </a:endParaRPr>
          </a:p>
        </p:txBody>
      </p:sp>
      <p:sp>
        <p:nvSpPr>
          <p:cNvPr id="27" name="TextBox 27"/>
          <p:cNvSpPr txBox="1"/>
          <p:nvPr/>
        </p:nvSpPr>
        <p:spPr>
          <a:xfrm>
            <a:off x="2249937" y="5203576"/>
            <a:ext cx="8418063" cy="813364"/>
          </a:xfrm>
          <a:prstGeom prst="rect">
            <a:avLst/>
          </a:prstGeom>
        </p:spPr>
        <p:txBody>
          <a:bodyPr wrap="square" lIns="0" tIns="0" rIns="0" bIns="0" rtlCol="0" anchor="t">
            <a:spAutoFit/>
          </a:bodyPr>
          <a:lstStyle/>
          <a:p>
            <a:pPr marL="605228" lvl="1" indent="-342900" algn="l">
              <a:lnSpc>
                <a:spcPts val="3329"/>
              </a:lnSpc>
              <a:buFont typeface="Wingdings" panose="05000000000000000000" pitchFamily="2" charset="2"/>
              <a:buChar char="Ø"/>
            </a:pPr>
            <a:r>
              <a:rPr lang="en-US" sz="2200" b="1" dirty="0"/>
              <a:t>To extract important clinical entities such as symptoms, diagnoses, and vital signs from consultation transcripts.</a:t>
            </a:r>
            <a:endParaRPr lang="en-US" sz="2200" b="1" dirty="0">
              <a:solidFill>
                <a:srgbClr val="1F2B5B"/>
              </a:solidFill>
              <a:latin typeface="Inter Bold"/>
              <a:ea typeface="Inter Bold"/>
              <a:cs typeface="Inter Bold"/>
              <a:sym typeface="Inter Bold"/>
            </a:endParaRPr>
          </a:p>
        </p:txBody>
      </p:sp>
      <p:sp>
        <p:nvSpPr>
          <p:cNvPr id="29" name="Freeform 20">
            <a:extLst>
              <a:ext uri="{FF2B5EF4-FFF2-40B4-BE49-F238E27FC236}">
                <a16:creationId xmlns:a16="http://schemas.microsoft.com/office/drawing/2014/main" id="{74314AA7-01F3-FE15-C8FE-E78C3922762F}"/>
              </a:ext>
            </a:extLst>
          </p:cNvPr>
          <p:cNvSpPr/>
          <p:nvPr/>
        </p:nvSpPr>
        <p:spPr>
          <a:xfrm>
            <a:off x="2408217" y="7755221"/>
            <a:ext cx="8418063" cy="1137501"/>
          </a:xfrm>
          <a:custGeom>
            <a:avLst/>
            <a:gdLst/>
            <a:ahLst/>
            <a:cxnLst/>
            <a:rect l="l" t="t" r="r" b="b"/>
            <a:pathLst>
              <a:path w="8418063" h="1137501">
                <a:moveTo>
                  <a:pt x="0" y="0"/>
                </a:moveTo>
                <a:lnTo>
                  <a:pt x="8418063" y="0"/>
                </a:lnTo>
                <a:lnTo>
                  <a:pt x="8418063" y="1137501"/>
                </a:lnTo>
                <a:lnTo>
                  <a:pt x="0" y="1137501"/>
                </a:lnTo>
                <a:lnTo>
                  <a:pt x="0" y="0"/>
                </a:lnTo>
                <a:close/>
              </a:path>
            </a:pathLst>
          </a:custGeom>
          <a:blipFill>
            <a:blip r:embed="rId7"/>
            <a:stretch>
              <a:fillRect l="-62041" t="-977857" r="-30766" b="-1063784"/>
            </a:stretch>
          </a:blipFill>
        </p:spPr>
        <p:txBody>
          <a:bodyPr/>
          <a:lstStyle/>
          <a:p>
            <a:pPr marL="342900" indent="-342900">
              <a:buFont typeface="Wingdings" panose="05000000000000000000" pitchFamily="2" charset="2"/>
              <a:buChar char="Ø"/>
            </a:pPr>
            <a:r>
              <a:rPr lang="en-US" sz="2200" b="1" dirty="0"/>
              <a:t>To implement Hybrid RAG-based patient history retrieval and provide a user-friendly interface for consultation management and review.</a:t>
            </a:r>
            <a:endParaRPr lang="en-IN" sz="2200" b="1" dirty="0"/>
          </a:p>
        </p:txBody>
      </p:sp>
      <p:sp>
        <p:nvSpPr>
          <p:cNvPr id="30" name="Freeform 20">
            <a:extLst>
              <a:ext uri="{FF2B5EF4-FFF2-40B4-BE49-F238E27FC236}">
                <a16:creationId xmlns:a16="http://schemas.microsoft.com/office/drawing/2014/main" id="{3F01A0E8-504F-A641-24C8-51598B63D516}"/>
              </a:ext>
            </a:extLst>
          </p:cNvPr>
          <p:cNvSpPr/>
          <p:nvPr/>
        </p:nvSpPr>
        <p:spPr>
          <a:xfrm>
            <a:off x="2365178" y="2441490"/>
            <a:ext cx="8418063" cy="1000984"/>
          </a:xfrm>
          <a:custGeom>
            <a:avLst/>
            <a:gdLst/>
            <a:ahLst/>
            <a:cxnLst/>
            <a:rect l="l" t="t" r="r" b="b"/>
            <a:pathLst>
              <a:path w="8418063" h="1137501">
                <a:moveTo>
                  <a:pt x="0" y="0"/>
                </a:moveTo>
                <a:lnTo>
                  <a:pt x="8418063" y="0"/>
                </a:lnTo>
                <a:lnTo>
                  <a:pt x="8418063" y="1137501"/>
                </a:lnTo>
                <a:lnTo>
                  <a:pt x="0" y="1137501"/>
                </a:lnTo>
                <a:lnTo>
                  <a:pt x="0" y="0"/>
                </a:lnTo>
                <a:close/>
              </a:path>
            </a:pathLst>
          </a:custGeom>
          <a:blipFill>
            <a:blip r:embed="rId7"/>
            <a:stretch>
              <a:fillRect l="-62041" t="-977857" r="-30766" b="-1063784"/>
            </a:stretch>
          </a:blipFill>
        </p:spPr>
        <p:txBody>
          <a:bodyPr/>
          <a:lstStyle/>
          <a:p>
            <a:pPr marL="342900" indent="-342900">
              <a:buFont typeface="Wingdings" panose="05000000000000000000" pitchFamily="2" charset="2"/>
              <a:buChar char="Ø"/>
            </a:pPr>
            <a:r>
              <a:rPr lang="en-US" sz="2200" b="1" dirty="0"/>
              <a:t>To develop an AI-based system that automatically converts doctor–patient conversations into structured clinical documentation.</a:t>
            </a:r>
            <a:endParaRPr lang="en-IN" sz="2200" b="1" dirty="0"/>
          </a:p>
        </p:txBody>
      </p:sp>
      <p:sp>
        <p:nvSpPr>
          <p:cNvPr id="33" name="Rectangle 3">
            <a:extLst>
              <a:ext uri="{FF2B5EF4-FFF2-40B4-BE49-F238E27FC236}">
                <a16:creationId xmlns:a16="http://schemas.microsoft.com/office/drawing/2014/main" id="{4CB25182-3979-BC44-94DE-0B3C5F4FDE51}"/>
              </a:ext>
            </a:extLst>
          </p:cNvPr>
          <p:cNvSpPr>
            <a:spLocks noChangeArrowheads="1"/>
          </p:cNvSpPr>
          <p:nvPr/>
        </p:nvSpPr>
        <p:spPr bwMode="auto">
          <a:xfrm>
            <a:off x="2365179" y="6113852"/>
            <a:ext cx="8302822"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1" i="0" u="none" strike="noStrike" cap="none" normalizeH="0" baseline="0" dirty="0">
                <a:ln>
                  <a:noFill/>
                </a:ln>
                <a:solidFill>
                  <a:schemeClr val="tx1"/>
                </a:solidFill>
                <a:effectLst/>
                <a:latin typeface="Arial" panose="020B0604020202020204" pitchFamily="34" charset="0"/>
              </a:rPr>
              <a:t>To generate standardized SOAP notes and remove sensitive patient information to ensure privacy and secure clinical documentation.</a:t>
            </a:r>
            <a:endParaRPr kumimoji="0" lang="en-US" altLang="en-US" sz="2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923139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11"/>
          <p:cNvSpPr/>
          <p:nvPr/>
        </p:nvSpPr>
        <p:spPr>
          <a:xfrm flipH="1">
            <a:off x="13913215" y="1028700"/>
            <a:ext cx="9365976" cy="9297860"/>
          </a:xfrm>
          <a:custGeom>
            <a:avLst/>
            <a:gdLst/>
            <a:ahLst/>
            <a:cxnLst/>
            <a:rect l="l" t="t" r="r" b="b"/>
            <a:pathLst>
              <a:path w="9365976" h="9297860">
                <a:moveTo>
                  <a:pt x="9365977" y="0"/>
                </a:moveTo>
                <a:lnTo>
                  <a:pt x="0" y="0"/>
                </a:lnTo>
                <a:lnTo>
                  <a:pt x="0" y="9297860"/>
                </a:lnTo>
                <a:lnTo>
                  <a:pt x="9365977" y="9297860"/>
                </a:lnTo>
                <a:lnTo>
                  <a:pt x="9365977" y="0"/>
                </a:lnTo>
                <a:close/>
              </a:path>
            </a:pathLst>
          </a:custGeom>
          <a:blipFill>
            <a:blip r:embed="rId2">
              <a:alphaModFix amt="81000"/>
              <a:extLst>
                <a:ext uri="{96DAC541-7B7A-43D3-8B79-37D633B846F1}">
                  <asvg:svgBlip xmlns:asvg="http://schemas.microsoft.com/office/drawing/2016/SVG/main" r:embed="rId3"/>
                </a:ext>
              </a:extLst>
            </a:blip>
            <a:stretch>
              <a:fillRect/>
            </a:stretch>
          </a:blipFill>
        </p:spPr>
      </p:sp>
      <p:sp>
        <p:nvSpPr>
          <p:cNvPr id="12" name="Freeform 12"/>
          <p:cNvSpPr/>
          <p:nvPr/>
        </p:nvSpPr>
        <p:spPr>
          <a:xfrm>
            <a:off x="1028700" y="1663028"/>
            <a:ext cx="16411036" cy="8229600"/>
          </a:xfrm>
          <a:custGeom>
            <a:avLst/>
            <a:gdLst/>
            <a:ahLst/>
            <a:cxnLst/>
            <a:rect l="l" t="t" r="r" b="b"/>
            <a:pathLst>
              <a:path w="16411036" h="8229600">
                <a:moveTo>
                  <a:pt x="0" y="0"/>
                </a:moveTo>
                <a:lnTo>
                  <a:pt x="16411036" y="0"/>
                </a:lnTo>
                <a:lnTo>
                  <a:pt x="16411036" y="8229600"/>
                </a:lnTo>
                <a:lnTo>
                  <a:pt x="0" y="8229600"/>
                </a:lnTo>
                <a:lnTo>
                  <a:pt x="0" y="0"/>
                </a:lnTo>
                <a:close/>
              </a:path>
            </a:pathLst>
          </a:custGeom>
          <a:blipFill>
            <a:blip r:embed="rId4">
              <a:alphaModFix amt="76000"/>
            </a:blip>
            <a:stretch>
              <a:fillRect t="-200677" r="-77874" b="-200677"/>
            </a:stretch>
          </a:blipFill>
        </p:spPr>
      </p:sp>
      <p:sp>
        <p:nvSpPr>
          <p:cNvPr id="17" name="Freeform 17"/>
          <p:cNvSpPr/>
          <p:nvPr/>
        </p:nvSpPr>
        <p:spPr>
          <a:xfrm>
            <a:off x="1028700" y="1805857"/>
            <a:ext cx="5950445" cy="8914525"/>
          </a:xfrm>
          <a:custGeom>
            <a:avLst/>
            <a:gdLst/>
            <a:ahLst/>
            <a:cxnLst/>
            <a:rect l="l" t="t" r="r" b="b"/>
            <a:pathLst>
              <a:path w="5950445" h="8914525">
                <a:moveTo>
                  <a:pt x="0" y="0"/>
                </a:moveTo>
                <a:lnTo>
                  <a:pt x="5950445" y="0"/>
                </a:lnTo>
                <a:lnTo>
                  <a:pt x="5950445" y="8914525"/>
                </a:lnTo>
                <a:lnTo>
                  <a:pt x="0" y="8914525"/>
                </a:lnTo>
                <a:lnTo>
                  <a:pt x="0" y="0"/>
                </a:lnTo>
                <a:close/>
              </a:path>
            </a:pathLst>
          </a:custGeom>
          <a:blipFill>
            <a:blip r:embed="rId5">
              <a:alphaModFix amt="47000"/>
            </a:blip>
            <a:stretch>
              <a:fillRect/>
            </a:stretch>
          </a:blipFill>
        </p:spPr>
      </p:sp>
      <p:sp>
        <p:nvSpPr>
          <p:cNvPr id="21" name="TextBox 21"/>
          <p:cNvSpPr txBox="1"/>
          <p:nvPr/>
        </p:nvSpPr>
        <p:spPr>
          <a:xfrm>
            <a:off x="7766447" y="2181940"/>
            <a:ext cx="9492853" cy="1247649"/>
          </a:xfrm>
          <a:prstGeom prst="rect">
            <a:avLst/>
          </a:prstGeom>
        </p:spPr>
        <p:txBody>
          <a:bodyPr lIns="0" tIns="0" rIns="0" bIns="0" rtlCol="0" anchor="t">
            <a:spAutoFit/>
          </a:bodyPr>
          <a:lstStyle/>
          <a:p>
            <a:pPr>
              <a:lnSpc>
                <a:spcPts val="4775"/>
              </a:lnSpc>
            </a:pPr>
            <a:r>
              <a:rPr lang="en-US" sz="5400" b="1" dirty="0"/>
              <a:t>Proposed Solution</a:t>
            </a:r>
          </a:p>
          <a:p>
            <a:pPr algn="l">
              <a:lnSpc>
                <a:spcPts val="4775"/>
              </a:lnSpc>
            </a:pPr>
            <a:endParaRPr lang="en-US" sz="4923" b="1" dirty="0">
              <a:solidFill>
                <a:srgbClr val="000000"/>
              </a:solidFill>
              <a:latin typeface="Bricolage Grotesque Bold"/>
              <a:ea typeface="Bricolage Grotesque Bold"/>
              <a:cs typeface="Bricolage Grotesque Bold"/>
              <a:sym typeface="Bricolage Grotesque Bold"/>
            </a:endParaRPr>
          </a:p>
        </p:txBody>
      </p:sp>
      <p:sp>
        <p:nvSpPr>
          <p:cNvPr id="23" name="Freeform 23"/>
          <p:cNvSpPr/>
          <p:nvPr/>
        </p:nvSpPr>
        <p:spPr>
          <a:xfrm flipH="1">
            <a:off x="1028700" y="3871442"/>
            <a:ext cx="5950445" cy="6455118"/>
          </a:xfrm>
          <a:custGeom>
            <a:avLst/>
            <a:gdLst/>
            <a:ahLst/>
            <a:cxnLst/>
            <a:rect l="l" t="t" r="r" b="b"/>
            <a:pathLst>
              <a:path w="5950445" h="6455118">
                <a:moveTo>
                  <a:pt x="5950445" y="0"/>
                </a:moveTo>
                <a:lnTo>
                  <a:pt x="0" y="0"/>
                </a:lnTo>
                <a:lnTo>
                  <a:pt x="0" y="6455118"/>
                </a:lnTo>
                <a:lnTo>
                  <a:pt x="5950445" y="6455118"/>
                </a:lnTo>
                <a:lnTo>
                  <a:pt x="5950445"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4" name="Rectangle 1">
            <a:extLst>
              <a:ext uri="{FF2B5EF4-FFF2-40B4-BE49-F238E27FC236}">
                <a16:creationId xmlns:a16="http://schemas.microsoft.com/office/drawing/2014/main" id="{8D333BDF-836C-188F-731D-DFA9AE90D97C}"/>
              </a:ext>
            </a:extLst>
          </p:cNvPr>
          <p:cNvSpPr>
            <a:spLocks noChangeArrowheads="1"/>
          </p:cNvSpPr>
          <p:nvPr/>
        </p:nvSpPr>
        <p:spPr bwMode="auto">
          <a:xfrm>
            <a:off x="7276578" y="3548392"/>
            <a:ext cx="9682312"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800" dirty="0"/>
              <a:t>The proposed system is an AI-driven clinical documentation platform that automatically converts doctor–patient consultation audio into structured SOAP notes. The system uses Automatic Speech Recognition (ASR), speaker identification, clinical entity extraction, and Hybrid RAG retrieval to generate accurate clinical documentation while maintaining patient privacy and supporting patient history retrieval.</a:t>
            </a:r>
          </a:p>
          <a:p>
            <a:pPr eaLnBrk="0" fontAlgn="base" hangingPunct="0">
              <a:spcBef>
                <a:spcPct val="0"/>
              </a:spcBef>
              <a:spcAft>
                <a:spcPct val="0"/>
              </a:spcAft>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260803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solidFill>
            <a:schemeClr val="accent4">
              <a:lumMod val="20000"/>
              <a:lumOff val="80000"/>
            </a:schemeClr>
          </a:solidFill>
        </p:spPr>
      </p:sp>
      <p:sp>
        <p:nvSpPr>
          <p:cNvPr id="11" name="Freeform 11"/>
          <p:cNvSpPr/>
          <p:nvPr/>
        </p:nvSpPr>
        <p:spPr>
          <a:xfrm>
            <a:off x="-3666343" y="1028700"/>
            <a:ext cx="7332686" cy="9249948"/>
          </a:xfrm>
          <a:custGeom>
            <a:avLst/>
            <a:gdLst/>
            <a:ahLst/>
            <a:cxnLst/>
            <a:rect l="l" t="t" r="r" b="b"/>
            <a:pathLst>
              <a:path w="7332686" h="9249948">
                <a:moveTo>
                  <a:pt x="0" y="0"/>
                </a:moveTo>
                <a:lnTo>
                  <a:pt x="7332686" y="0"/>
                </a:lnTo>
                <a:lnTo>
                  <a:pt x="7332686" y="9249948"/>
                </a:lnTo>
                <a:lnTo>
                  <a:pt x="0" y="9249948"/>
                </a:lnTo>
                <a:lnTo>
                  <a:pt x="0" y="0"/>
                </a:lnTo>
                <a:close/>
              </a:path>
            </a:pathLst>
          </a:custGeom>
          <a:blipFill>
            <a:blip r:embed="rId2">
              <a:alphaModFix amt="81000"/>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12" name="Freeform 12"/>
          <p:cNvSpPr/>
          <p:nvPr/>
        </p:nvSpPr>
        <p:spPr>
          <a:xfrm>
            <a:off x="848264" y="1028700"/>
            <a:ext cx="16411036" cy="8229600"/>
          </a:xfrm>
          <a:custGeom>
            <a:avLst/>
            <a:gdLst/>
            <a:ahLst/>
            <a:cxnLst/>
            <a:rect l="l" t="t" r="r" b="b"/>
            <a:pathLst>
              <a:path w="16411036" h="8229600">
                <a:moveTo>
                  <a:pt x="0" y="0"/>
                </a:moveTo>
                <a:lnTo>
                  <a:pt x="16411036" y="0"/>
                </a:lnTo>
                <a:lnTo>
                  <a:pt x="16411036" y="8229600"/>
                </a:lnTo>
                <a:lnTo>
                  <a:pt x="0" y="8229600"/>
                </a:lnTo>
                <a:lnTo>
                  <a:pt x="0" y="0"/>
                </a:lnTo>
                <a:close/>
              </a:path>
            </a:pathLst>
          </a:custGeom>
          <a:blipFill>
            <a:blip r:embed="rId4">
              <a:alphaModFix amt="84000"/>
            </a:blip>
            <a:stretch>
              <a:fillRect t="-200677" r="-77874" b="-200677"/>
            </a:stretch>
          </a:blipFill>
        </p:spPr>
      </p:sp>
      <p:sp>
        <p:nvSpPr>
          <p:cNvPr id="17" name="Freeform 17"/>
          <p:cNvSpPr/>
          <p:nvPr/>
        </p:nvSpPr>
        <p:spPr>
          <a:xfrm>
            <a:off x="11308855" y="1909453"/>
            <a:ext cx="5950445" cy="8914525"/>
          </a:xfrm>
          <a:custGeom>
            <a:avLst/>
            <a:gdLst/>
            <a:ahLst/>
            <a:cxnLst/>
            <a:rect l="l" t="t" r="r" b="b"/>
            <a:pathLst>
              <a:path w="5950445" h="8914525">
                <a:moveTo>
                  <a:pt x="0" y="0"/>
                </a:moveTo>
                <a:lnTo>
                  <a:pt x="5950445" y="0"/>
                </a:lnTo>
                <a:lnTo>
                  <a:pt x="5950445" y="8914525"/>
                </a:lnTo>
                <a:lnTo>
                  <a:pt x="0" y="8914525"/>
                </a:lnTo>
                <a:lnTo>
                  <a:pt x="0" y="0"/>
                </a:lnTo>
                <a:close/>
              </a:path>
            </a:pathLst>
          </a:custGeom>
          <a:blipFill>
            <a:blip r:embed="rId5">
              <a:alphaModFix amt="43999"/>
            </a:blip>
            <a:stretch>
              <a:fillRect/>
            </a:stretch>
          </a:blipFill>
        </p:spPr>
      </p:sp>
      <p:sp>
        <p:nvSpPr>
          <p:cNvPr id="20" name="Freeform 20"/>
          <p:cNvSpPr/>
          <p:nvPr/>
        </p:nvSpPr>
        <p:spPr>
          <a:xfrm>
            <a:off x="2408217" y="6471491"/>
            <a:ext cx="8418063" cy="1137501"/>
          </a:xfrm>
          <a:custGeom>
            <a:avLst/>
            <a:gdLst/>
            <a:ahLst/>
            <a:cxnLst/>
            <a:rect l="l" t="t" r="r" b="b"/>
            <a:pathLst>
              <a:path w="8418063" h="1137501">
                <a:moveTo>
                  <a:pt x="0" y="0"/>
                </a:moveTo>
                <a:lnTo>
                  <a:pt x="8418063" y="0"/>
                </a:lnTo>
                <a:lnTo>
                  <a:pt x="8418063" y="1137501"/>
                </a:lnTo>
                <a:lnTo>
                  <a:pt x="0" y="1137501"/>
                </a:lnTo>
                <a:lnTo>
                  <a:pt x="0" y="0"/>
                </a:lnTo>
                <a:close/>
              </a:path>
            </a:pathLst>
          </a:custGeom>
          <a:solidFill>
            <a:schemeClr val="accent4">
              <a:lumMod val="60000"/>
              <a:lumOff val="40000"/>
            </a:schemeClr>
          </a:solidFill>
        </p:spPr>
      </p:sp>
      <p:sp>
        <p:nvSpPr>
          <p:cNvPr id="21" name="Freeform 21"/>
          <p:cNvSpPr/>
          <p:nvPr/>
        </p:nvSpPr>
        <p:spPr>
          <a:xfrm>
            <a:off x="11184507" y="4510706"/>
            <a:ext cx="6467887" cy="5785819"/>
          </a:xfrm>
          <a:custGeom>
            <a:avLst/>
            <a:gdLst/>
            <a:ahLst/>
            <a:cxnLst/>
            <a:rect l="l" t="t" r="r" b="b"/>
            <a:pathLst>
              <a:path w="6467887" h="5785819">
                <a:moveTo>
                  <a:pt x="0" y="0"/>
                </a:moveTo>
                <a:lnTo>
                  <a:pt x="6467887" y="0"/>
                </a:lnTo>
                <a:lnTo>
                  <a:pt x="6467887" y="5785819"/>
                </a:lnTo>
                <a:lnTo>
                  <a:pt x="0" y="578581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4" name="TextBox 24"/>
          <p:cNvSpPr txBox="1"/>
          <p:nvPr/>
        </p:nvSpPr>
        <p:spPr>
          <a:xfrm>
            <a:off x="1834083" y="372137"/>
            <a:ext cx="1062190" cy="276679"/>
          </a:xfrm>
          <a:prstGeom prst="rect">
            <a:avLst/>
          </a:prstGeom>
        </p:spPr>
        <p:txBody>
          <a:bodyPr lIns="0" tIns="0" rIns="0" bIns="0" rtlCol="0" anchor="t">
            <a:spAutoFit/>
          </a:bodyPr>
          <a:lstStyle/>
          <a:p>
            <a:pPr algn="l">
              <a:lnSpc>
                <a:spcPts val="2335"/>
              </a:lnSpc>
            </a:pPr>
            <a:r>
              <a:rPr lang="en-US" sz="1730" b="1" spc="181" dirty="0">
                <a:solidFill>
                  <a:srgbClr val="1F2B5B"/>
                </a:solidFill>
                <a:latin typeface="Roboto Bold"/>
                <a:ea typeface="Roboto Bold"/>
                <a:cs typeface="Roboto Bold"/>
                <a:sym typeface="Roboto Bold"/>
              </a:rPr>
              <a:t> </a:t>
            </a:r>
          </a:p>
        </p:txBody>
      </p:sp>
      <p:sp>
        <p:nvSpPr>
          <p:cNvPr id="25" name="TextBox 25"/>
          <p:cNvSpPr txBox="1"/>
          <p:nvPr/>
        </p:nvSpPr>
        <p:spPr>
          <a:xfrm>
            <a:off x="2365178" y="1607675"/>
            <a:ext cx="9492853" cy="647678"/>
          </a:xfrm>
          <a:prstGeom prst="rect">
            <a:avLst/>
          </a:prstGeom>
        </p:spPr>
        <p:txBody>
          <a:bodyPr lIns="0" tIns="0" rIns="0" bIns="0" rtlCol="0" anchor="t">
            <a:spAutoFit/>
          </a:bodyPr>
          <a:lstStyle/>
          <a:p>
            <a:pPr algn="l">
              <a:lnSpc>
                <a:spcPts val="4775"/>
              </a:lnSpc>
            </a:pPr>
            <a:r>
              <a:rPr lang="en-IN" sz="5400" b="1" dirty="0"/>
              <a:t>Functional Requirements</a:t>
            </a:r>
            <a:endParaRPr lang="en-US" sz="4923" b="1" dirty="0">
              <a:solidFill>
                <a:srgbClr val="000000"/>
              </a:solidFill>
              <a:latin typeface="Bricolage Grotesque Bold"/>
              <a:ea typeface="Bricolage Grotesque Bold"/>
              <a:cs typeface="Bricolage Grotesque Bold"/>
              <a:sym typeface="Bricolage Grotesque Bold"/>
            </a:endParaRPr>
          </a:p>
        </p:txBody>
      </p:sp>
      <p:sp>
        <p:nvSpPr>
          <p:cNvPr id="29" name="Freeform 18">
            <a:extLst>
              <a:ext uri="{FF2B5EF4-FFF2-40B4-BE49-F238E27FC236}">
                <a16:creationId xmlns:a16="http://schemas.microsoft.com/office/drawing/2014/main" id="{F6D00205-4E6A-D97B-83B9-9DBE091A80EA}"/>
              </a:ext>
            </a:extLst>
          </p:cNvPr>
          <p:cNvSpPr/>
          <p:nvPr/>
        </p:nvSpPr>
        <p:spPr>
          <a:xfrm>
            <a:off x="2365178" y="2439631"/>
            <a:ext cx="8418063" cy="1137501"/>
          </a:xfrm>
          <a:custGeom>
            <a:avLst/>
            <a:gdLst/>
            <a:ahLst/>
            <a:cxnLst/>
            <a:rect l="l" t="t" r="r" b="b"/>
            <a:pathLst>
              <a:path w="8418063" h="1137501">
                <a:moveTo>
                  <a:pt x="0" y="0"/>
                </a:moveTo>
                <a:lnTo>
                  <a:pt x="8418063" y="0"/>
                </a:lnTo>
                <a:lnTo>
                  <a:pt x="8418063" y="1137501"/>
                </a:lnTo>
                <a:lnTo>
                  <a:pt x="0" y="1137501"/>
                </a:lnTo>
                <a:lnTo>
                  <a:pt x="0" y="0"/>
                </a:lnTo>
                <a:close/>
              </a:path>
            </a:pathLst>
          </a:custGeom>
          <a:solidFill>
            <a:schemeClr val="accent4">
              <a:lumMod val="60000"/>
              <a:lumOff val="40000"/>
            </a:schemeClr>
          </a:solidFill>
        </p:spPr>
      </p:sp>
      <p:sp>
        <p:nvSpPr>
          <p:cNvPr id="30" name="Freeform 18">
            <a:extLst>
              <a:ext uri="{FF2B5EF4-FFF2-40B4-BE49-F238E27FC236}">
                <a16:creationId xmlns:a16="http://schemas.microsoft.com/office/drawing/2014/main" id="{77F70861-6935-9BA4-1702-244C76155731}"/>
              </a:ext>
            </a:extLst>
          </p:cNvPr>
          <p:cNvSpPr/>
          <p:nvPr/>
        </p:nvSpPr>
        <p:spPr>
          <a:xfrm>
            <a:off x="2431570" y="7763939"/>
            <a:ext cx="8418063" cy="1137501"/>
          </a:xfrm>
          <a:custGeom>
            <a:avLst/>
            <a:gdLst/>
            <a:ahLst/>
            <a:cxnLst/>
            <a:rect l="l" t="t" r="r" b="b"/>
            <a:pathLst>
              <a:path w="8418063" h="1137501">
                <a:moveTo>
                  <a:pt x="0" y="0"/>
                </a:moveTo>
                <a:lnTo>
                  <a:pt x="8418063" y="0"/>
                </a:lnTo>
                <a:lnTo>
                  <a:pt x="8418063" y="1137501"/>
                </a:lnTo>
                <a:lnTo>
                  <a:pt x="0" y="1137501"/>
                </a:lnTo>
                <a:lnTo>
                  <a:pt x="0" y="0"/>
                </a:lnTo>
                <a:close/>
              </a:path>
            </a:pathLst>
          </a:custGeom>
          <a:solidFill>
            <a:schemeClr val="accent4">
              <a:lumMod val="60000"/>
              <a:lumOff val="40000"/>
            </a:schemeClr>
          </a:solidFill>
        </p:spPr>
      </p:sp>
      <p:sp>
        <p:nvSpPr>
          <p:cNvPr id="31" name="Freeform 18">
            <a:extLst>
              <a:ext uri="{FF2B5EF4-FFF2-40B4-BE49-F238E27FC236}">
                <a16:creationId xmlns:a16="http://schemas.microsoft.com/office/drawing/2014/main" id="{176F5236-949A-04CF-7127-ECA0BBFA4D4F}"/>
              </a:ext>
            </a:extLst>
          </p:cNvPr>
          <p:cNvSpPr/>
          <p:nvPr/>
        </p:nvSpPr>
        <p:spPr>
          <a:xfrm>
            <a:off x="2419103" y="3705308"/>
            <a:ext cx="8418063" cy="1137501"/>
          </a:xfrm>
          <a:custGeom>
            <a:avLst/>
            <a:gdLst/>
            <a:ahLst/>
            <a:cxnLst/>
            <a:rect l="l" t="t" r="r" b="b"/>
            <a:pathLst>
              <a:path w="8418063" h="1137501">
                <a:moveTo>
                  <a:pt x="0" y="0"/>
                </a:moveTo>
                <a:lnTo>
                  <a:pt x="8418063" y="0"/>
                </a:lnTo>
                <a:lnTo>
                  <a:pt x="8418063" y="1137501"/>
                </a:lnTo>
                <a:lnTo>
                  <a:pt x="0" y="1137501"/>
                </a:lnTo>
                <a:lnTo>
                  <a:pt x="0" y="0"/>
                </a:lnTo>
                <a:close/>
              </a:path>
            </a:pathLst>
          </a:custGeom>
          <a:solidFill>
            <a:schemeClr val="accent4">
              <a:lumMod val="60000"/>
              <a:lumOff val="40000"/>
            </a:schemeClr>
          </a:solidFill>
        </p:spPr>
      </p:sp>
      <p:sp>
        <p:nvSpPr>
          <p:cNvPr id="32" name="Freeform 18">
            <a:extLst>
              <a:ext uri="{FF2B5EF4-FFF2-40B4-BE49-F238E27FC236}">
                <a16:creationId xmlns:a16="http://schemas.microsoft.com/office/drawing/2014/main" id="{3F6752D5-39BC-91F8-BEBE-F460C2906113}"/>
              </a:ext>
            </a:extLst>
          </p:cNvPr>
          <p:cNvSpPr/>
          <p:nvPr/>
        </p:nvSpPr>
        <p:spPr>
          <a:xfrm>
            <a:off x="2392392" y="5121031"/>
            <a:ext cx="8418063" cy="1137501"/>
          </a:xfrm>
          <a:custGeom>
            <a:avLst/>
            <a:gdLst/>
            <a:ahLst/>
            <a:cxnLst/>
            <a:rect l="l" t="t" r="r" b="b"/>
            <a:pathLst>
              <a:path w="8418063" h="1137501">
                <a:moveTo>
                  <a:pt x="0" y="0"/>
                </a:moveTo>
                <a:lnTo>
                  <a:pt x="8418063" y="0"/>
                </a:lnTo>
                <a:lnTo>
                  <a:pt x="8418063" y="1137501"/>
                </a:lnTo>
                <a:lnTo>
                  <a:pt x="0" y="1137501"/>
                </a:lnTo>
                <a:lnTo>
                  <a:pt x="0" y="0"/>
                </a:lnTo>
                <a:close/>
              </a:path>
            </a:pathLst>
          </a:custGeom>
          <a:solidFill>
            <a:schemeClr val="accent4">
              <a:lumMod val="60000"/>
              <a:lumOff val="40000"/>
            </a:schemeClr>
          </a:solidFill>
        </p:spPr>
      </p:sp>
      <p:sp>
        <p:nvSpPr>
          <p:cNvPr id="33" name="TextBox 32">
            <a:extLst>
              <a:ext uri="{FF2B5EF4-FFF2-40B4-BE49-F238E27FC236}">
                <a16:creationId xmlns:a16="http://schemas.microsoft.com/office/drawing/2014/main" id="{E998658A-3555-CCA3-3DB6-CECBC8FF5DE4}"/>
              </a:ext>
            </a:extLst>
          </p:cNvPr>
          <p:cNvSpPr txBox="1"/>
          <p:nvPr/>
        </p:nvSpPr>
        <p:spPr>
          <a:xfrm>
            <a:off x="2431570" y="2781300"/>
            <a:ext cx="8084030" cy="830997"/>
          </a:xfrm>
          <a:prstGeom prst="rect">
            <a:avLst/>
          </a:prstGeom>
          <a:noFill/>
        </p:spPr>
        <p:txBody>
          <a:bodyPr wrap="square" rtlCol="0">
            <a:spAutoFit/>
          </a:bodyPr>
          <a:lstStyle/>
          <a:p>
            <a:pPr marL="342900" indent="-342900">
              <a:buFont typeface="Arial" panose="020B0604020202020204" pitchFamily="34" charset="0"/>
              <a:buChar char="•"/>
            </a:pPr>
            <a:r>
              <a:rPr lang="en-US" sz="2400" b="1" dirty="0"/>
              <a:t>The system shall accept doctor–patient consultation audio as input.</a:t>
            </a:r>
            <a:endParaRPr lang="en-IN" sz="2400" b="1" dirty="0"/>
          </a:p>
        </p:txBody>
      </p:sp>
      <p:sp>
        <p:nvSpPr>
          <p:cNvPr id="34" name="TextBox 33">
            <a:extLst>
              <a:ext uri="{FF2B5EF4-FFF2-40B4-BE49-F238E27FC236}">
                <a16:creationId xmlns:a16="http://schemas.microsoft.com/office/drawing/2014/main" id="{E9C3FEF9-16E2-9E60-F96D-CF456E3D0E7A}"/>
              </a:ext>
            </a:extLst>
          </p:cNvPr>
          <p:cNvSpPr txBox="1"/>
          <p:nvPr/>
        </p:nvSpPr>
        <p:spPr>
          <a:xfrm>
            <a:off x="2431570" y="4100683"/>
            <a:ext cx="8117331" cy="830997"/>
          </a:xfrm>
          <a:prstGeom prst="rect">
            <a:avLst/>
          </a:prstGeom>
          <a:noFill/>
        </p:spPr>
        <p:txBody>
          <a:bodyPr wrap="square" rtlCol="0">
            <a:spAutoFit/>
          </a:bodyPr>
          <a:lstStyle/>
          <a:p>
            <a:pPr marL="342900" indent="-342900">
              <a:buFont typeface="Arial" panose="020B0604020202020204" pitchFamily="34" charset="0"/>
              <a:buChar char="•"/>
            </a:pPr>
            <a:r>
              <a:rPr lang="en-US" sz="2400" b="1" dirty="0"/>
              <a:t>The system shall convert consultation speech into text using ASR.</a:t>
            </a:r>
            <a:endParaRPr lang="en-IN" sz="2400" b="1" dirty="0"/>
          </a:p>
        </p:txBody>
      </p:sp>
      <p:sp>
        <p:nvSpPr>
          <p:cNvPr id="35" name="TextBox 34">
            <a:extLst>
              <a:ext uri="{FF2B5EF4-FFF2-40B4-BE49-F238E27FC236}">
                <a16:creationId xmlns:a16="http://schemas.microsoft.com/office/drawing/2014/main" id="{D5A7A4EB-715E-3242-1153-B8434BAFFEE2}"/>
              </a:ext>
            </a:extLst>
          </p:cNvPr>
          <p:cNvSpPr txBox="1"/>
          <p:nvPr/>
        </p:nvSpPr>
        <p:spPr>
          <a:xfrm>
            <a:off x="2431570" y="5498715"/>
            <a:ext cx="7848585" cy="830997"/>
          </a:xfrm>
          <a:prstGeom prst="rect">
            <a:avLst/>
          </a:prstGeom>
          <a:noFill/>
        </p:spPr>
        <p:txBody>
          <a:bodyPr wrap="square" rtlCol="0">
            <a:spAutoFit/>
          </a:bodyPr>
          <a:lstStyle/>
          <a:p>
            <a:pPr marL="342900" indent="-342900">
              <a:buFont typeface="Arial" panose="020B0604020202020204" pitchFamily="34" charset="0"/>
              <a:buChar char="•"/>
            </a:pPr>
            <a:r>
              <a:rPr lang="en-US" sz="2400" b="1" dirty="0"/>
              <a:t>The system shall identify and separate doctor and patient speakers.</a:t>
            </a:r>
            <a:endParaRPr lang="en-IN" sz="2400" b="1" dirty="0"/>
          </a:p>
        </p:txBody>
      </p:sp>
      <p:sp>
        <p:nvSpPr>
          <p:cNvPr id="37" name="TextBox 36">
            <a:extLst>
              <a:ext uri="{FF2B5EF4-FFF2-40B4-BE49-F238E27FC236}">
                <a16:creationId xmlns:a16="http://schemas.microsoft.com/office/drawing/2014/main" id="{72DF8F45-ADA6-2E90-8AAE-6170D77F0A1A}"/>
              </a:ext>
            </a:extLst>
          </p:cNvPr>
          <p:cNvSpPr txBox="1"/>
          <p:nvPr/>
        </p:nvSpPr>
        <p:spPr>
          <a:xfrm>
            <a:off x="2554983" y="6604394"/>
            <a:ext cx="8236430" cy="830997"/>
          </a:xfrm>
          <a:prstGeom prst="rect">
            <a:avLst/>
          </a:prstGeom>
          <a:noFill/>
        </p:spPr>
        <p:txBody>
          <a:bodyPr wrap="square" rtlCol="0">
            <a:spAutoFit/>
          </a:bodyPr>
          <a:lstStyle/>
          <a:p>
            <a:pPr marL="342900" indent="-342900">
              <a:buFont typeface="Arial" panose="020B0604020202020204" pitchFamily="34" charset="0"/>
              <a:buChar char="•"/>
            </a:pPr>
            <a:r>
              <a:rPr lang="en-US" sz="2400" b="1" dirty="0"/>
              <a:t>The system shall extract clinical information and generate SOAP notes.</a:t>
            </a:r>
            <a:endParaRPr lang="en-IN" sz="2400" b="1" dirty="0"/>
          </a:p>
        </p:txBody>
      </p:sp>
      <p:sp>
        <p:nvSpPr>
          <p:cNvPr id="39" name="TextBox 38">
            <a:extLst>
              <a:ext uri="{FF2B5EF4-FFF2-40B4-BE49-F238E27FC236}">
                <a16:creationId xmlns:a16="http://schemas.microsoft.com/office/drawing/2014/main" id="{7F91303A-BBD0-9EDA-D756-788F31B7CBD0}"/>
              </a:ext>
            </a:extLst>
          </p:cNvPr>
          <p:cNvSpPr txBox="1"/>
          <p:nvPr/>
        </p:nvSpPr>
        <p:spPr>
          <a:xfrm>
            <a:off x="2590800" y="8109801"/>
            <a:ext cx="7924800" cy="830997"/>
          </a:xfrm>
          <a:prstGeom prst="rect">
            <a:avLst/>
          </a:prstGeom>
          <a:noFill/>
        </p:spPr>
        <p:txBody>
          <a:bodyPr wrap="square" rtlCol="0">
            <a:spAutoFit/>
          </a:bodyPr>
          <a:lstStyle/>
          <a:p>
            <a:pPr marL="342900" indent="-342900">
              <a:buFont typeface="Arial" panose="020B0604020202020204" pitchFamily="34" charset="0"/>
              <a:buChar char="•"/>
            </a:pPr>
            <a:r>
              <a:rPr lang="en-US" sz="2400" b="1" dirty="0"/>
              <a:t>The system shall store records and retrieve patient history for future consultations.</a:t>
            </a:r>
            <a:endParaRPr lang="en-IN" sz="2400" b="1" dirty="0"/>
          </a:p>
        </p:txBody>
      </p:sp>
    </p:spTree>
    <p:extLst>
      <p:ext uri="{BB962C8B-B14F-4D97-AF65-F5344CB8AC3E}">
        <p14:creationId xmlns:p14="http://schemas.microsoft.com/office/powerpoint/2010/main" val="1647381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solidFill>
            <a:schemeClr val="accent4">
              <a:lumMod val="20000"/>
              <a:lumOff val="80000"/>
            </a:schemeClr>
          </a:solidFill>
        </p:spPr>
      </p:sp>
      <p:sp>
        <p:nvSpPr>
          <p:cNvPr id="11" name="Freeform 11"/>
          <p:cNvSpPr/>
          <p:nvPr/>
        </p:nvSpPr>
        <p:spPr>
          <a:xfrm>
            <a:off x="-3666343" y="1028700"/>
            <a:ext cx="7332686" cy="9249948"/>
          </a:xfrm>
          <a:custGeom>
            <a:avLst/>
            <a:gdLst/>
            <a:ahLst/>
            <a:cxnLst/>
            <a:rect l="l" t="t" r="r" b="b"/>
            <a:pathLst>
              <a:path w="7332686" h="9249948">
                <a:moveTo>
                  <a:pt x="0" y="0"/>
                </a:moveTo>
                <a:lnTo>
                  <a:pt x="7332686" y="0"/>
                </a:lnTo>
                <a:lnTo>
                  <a:pt x="7332686" y="9249948"/>
                </a:lnTo>
                <a:lnTo>
                  <a:pt x="0" y="9249948"/>
                </a:lnTo>
                <a:lnTo>
                  <a:pt x="0" y="0"/>
                </a:lnTo>
                <a:close/>
              </a:path>
            </a:pathLst>
          </a:custGeom>
          <a:blipFill>
            <a:blip r:embed="rId2">
              <a:alphaModFix amt="81000"/>
              <a:extLst>
                <a:ext uri="{96DAC541-7B7A-43D3-8B79-37D633B846F1}">
                  <asvg:svgBlip xmlns:asvg="http://schemas.microsoft.com/office/drawing/2016/SVG/main" r:embed="rId3"/>
                </a:ext>
              </a:extLst>
            </a:blip>
            <a:stretch>
              <a:fillRect/>
            </a:stretch>
          </a:blipFill>
        </p:spPr>
      </p:sp>
      <p:sp>
        <p:nvSpPr>
          <p:cNvPr id="12" name="Freeform 12"/>
          <p:cNvSpPr/>
          <p:nvPr/>
        </p:nvSpPr>
        <p:spPr>
          <a:xfrm>
            <a:off x="848264" y="1028700"/>
            <a:ext cx="16411036" cy="8229600"/>
          </a:xfrm>
          <a:custGeom>
            <a:avLst/>
            <a:gdLst/>
            <a:ahLst/>
            <a:cxnLst/>
            <a:rect l="l" t="t" r="r" b="b"/>
            <a:pathLst>
              <a:path w="16411036" h="8229600">
                <a:moveTo>
                  <a:pt x="0" y="0"/>
                </a:moveTo>
                <a:lnTo>
                  <a:pt x="16411036" y="0"/>
                </a:lnTo>
                <a:lnTo>
                  <a:pt x="16411036" y="8229600"/>
                </a:lnTo>
                <a:lnTo>
                  <a:pt x="0" y="8229600"/>
                </a:lnTo>
                <a:lnTo>
                  <a:pt x="0" y="0"/>
                </a:lnTo>
                <a:close/>
              </a:path>
            </a:pathLst>
          </a:custGeom>
          <a:blipFill>
            <a:blip r:embed="rId4">
              <a:alphaModFix amt="84000"/>
            </a:blip>
            <a:stretch>
              <a:fillRect t="-200677" r="-77874" b="-200677"/>
            </a:stretch>
          </a:blipFill>
        </p:spPr>
      </p:sp>
      <p:sp>
        <p:nvSpPr>
          <p:cNvPr id="17" name="Freeform 17"/>
          <p:cNvSpPr/>
          <p:nvPr/>
        </p:nvSpPr>
        <p:spPr>
          <a:xfrm>
            <a:off x="11308855" y="1909453"/>
            <a:ext cx="5950445" cy="8914525"/>
          </a:xfrm>
          <a:custGeom>
            <a:avLst/>
            <a:gdLst/>
            <a:ahLst/>
            <a:cxnLst/>
            <a:rect l="l" t="t" r="r" b="b"/>
            <a:pathLst>
              <a:path w="5950445" h="8914525">
                <a:moveTo>
                  <a:pt x="0" y="0"/>
                </a:moveTo>
                <a:lnTo>
                  <a:pt x="5950445" y="0"/>
                </a:lnTo>
                <a:lnTo>
                  <a:pt x="5950445" y="8914525"/>
                </a:lnTo>
                <a:lnTo>
                  <a:pt x="0" y="8914525"/>
                </a:lnTo>
                <a:lnTo>
                  <a:pt x="0" y="0"/>
                </a:lnTo>
                <a:close/>
              </a:path>
            </a:pathLst>
          </a:custGeom>
          <a:blipFill>
            <a:blip r:embed="rId5">
              <a:alphaModFix amt="43999"/>
            </a:blip>
            <a:stretch>
              <a:fillRect/>
            </a:stretch>
          </a:blipFill>
        </p:spPr>
      </p:sp>
      <p:sp>
        <p:nvSpPr>
          <p:cNvPr id="20" name="Freeform 20"/>
          <p:cNvSpPr/>
          <p:nvPr/>
        </p:nvSpPr>
        <p:spPr>
          <a:xfrm>
            <a:off x="2408217" y="6471491"/>
            <a:ext cx="8418063" cy="1137501"/>
          </a:xfrm>
          <a:custGeom>
            <a:avLst/>
            <a:gdLst/>
            <a:ahLst/>
            <a:cxnLst/>
            <a:rect l="l" t="t" r="r" b="b"/>
            <a:pathLst>
              <a:path w="8418063" h="1137501">
                <a:moveTo>
                  <a:pt x="0" y="0"/>
                </a:moveTo>
                <a:lnTo>
                  <a:pt x="8418063" y="0"/>
                </a:lnTo>
                <a:lnTo>
                  <a:pt x="8418063" y="1137501"/>
                </a:lnTo>
                <a:lnTo>
                  <a:pt x="0" y="1137501"/>
                </a:lnTo>
                <a:lnTo>
                  <a:pt x="0" y="0"/>
                </a:lnTo>
                <a:close/>
              </a:path>
            </a:pathLst>
          </a:custGeom>
          <a:solidFill>
            <a:schemeClr val="accent4">
              <a:lumMod val="60000"/>
              <a:lumOff val="40000"/>
            </a:schemeClr>
          </a:solidFill>
        </p:spPr>
      </p:sp>
      <p:sp>
        <p:nvSpPr>
          <p:cNvPr id="21" name="Freeform 21"/>
          <p:cNvSpPr/>
          <p:nvPr/>
        </p:nvSpPr>
        <p:spPr>
          <a:xfrm>
            <a:off x="11184507" y="4510706"/>
            <a:ext cx="6467887" cy="5785819"/>
          </a:xfrm>
          <a:custGeom>
            <a:avLst/>
            <a:gdLst/>
            <a:ahLst/>
            <a:cxnLst/>
            <a:rect l="l" t="t" r="r" b="b"/>
            <a:pathLst>
              <a:path w="6467887" h="5785819">
                <a:moveTo>
                  <a:pt x="0" y="0"/>
                </a:moveTo>
                <a:lnTo>
                  <a:pt x="6467887" y="0"/>
                </a:lnTo>
                <a:lnTo>
                  <a:pt x="6467887" y="5785819"/>
                </a:lnTo>
                <a:lnTo>
                  <a:pt x="0" y="578581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4" name="TextBox 24"/>
          <p:cNvSpPr txBox="1"/>
          <p:nvPr/>
        </p:nvSpPr>
        <p:spPr>
          <a:xfrm>
            <a:off x="1834083" y="372137"/>
            <a:ext cx="1062190" cy="276679"/>
          </a:xfrm>
          <a:prstGeom prst="rect">
            <a:avLst/>
          </a:prstGeom>
        </p:spPr>
        <p:txBody>
          <a:bodyPr lIns="0" tIns="0" rIns="0" bIns="0" rtlCol="0" anchor="t">
            <a:spAutoFit/>
          </a:bodyPr>
          <a:lstStyle/>
          <a:p>
            <a:pPr algn="l">
              <a:lnSpc>
                <a:spcPts val="2335"/>
              </a:lnSpc>
            </a:pPr>
            <a:r>
              <a:rPr lang="en-US" sz="1730" b="1" spc="181" dirty="0">
                <a:solidFill>
                  <a:srgbClr val="1F2B5B"/>
                </a:solidFill>
                <a:latin typeface="Roboto Bold"/>
                <a:ea typeface="Roboto Bold"/>
                <a:cs typeface="Roboto Bold"/>
                <a:sym typeface="Roboto Bold"/>
              </a:rPr>
              <a:t> </a:t>
            </a:r>
          </a:p>
        </p:txBody>
      </p:sp>
      <p:sp>
        <p:nvSpPr>
          <p:cNvPr id="25" name="TextBox 25"/>
          <p:cNvSpPr txBox="1"/>
          <p:nvPr/>
        </p:nvSpPr>
        <p:spPr>
          <a:xfrm>
            <a:off x="2365178" y="1607675"/>
            <a:ext cx="9492853" cy="647678"/>
          </a:xfrm>
          <a:prstGeom prst="rect">
            <a:avLst/>
          </a:prstGeom>
        </p:spPr>
        <p:txBody>
          <a:bodyPr lIns="0" tIns="0" rIns="0" bIns="0" rtlCol="0" anchor="t">
            <a:spAutoFit/>
          </a:bodyPr>
          <a:lstStyle/>
          <a:p>
            <a:pPr algn="l">
              <a:lnSpc>
                <a:spcPts val="4775"/>
              </a:lnSpc>
            </a:pPr>
            <a:r>
              <a:rPr lang="en-IN" sz="5400" b="1" dirty="0"/>
              <a:t>Non-Functional Requirements</a:t>
            </a:r>
            <a:endParaRPr lang="en-US" sz="4923" b="1" dirty="0">
              <a:solidFill>
                <a:srgbClr val="000000"/>
              </a:solidFill>
              <a:latin typeface="Bricolage Grotesque Bold"/>
              <a:ea typeface="Bricolage Grotesque Bold"/>
              <a:cs typeface="Bricolage Grotesque Bold"/>
              <a:sym typeface="Bricolage Grotesque Bold"/>
            </a:endParaRPr>
          </a:p>
        </p:txBody>
      </p:sp>
      <p:sp>
        <p:nvSpPr>
          <p:cNvPr id="29" name="Freeform 18">
            <a:extLst>
              <a:ext uri="{FF2B5EF4-FFF2-40B4-BE49-F238E27FC236}">
                <a16:creationId xmlns:a16="http://schemas.microsoft.com/office/drawing/2014/main" id="{F6D00205-4E6A-D97B-83B9-9DBE091A80EA}"/>
              </a:ext>
            </a:extLst>
          </p:cNvPr>
          <p:cNvSpPr/>
          <p:nvPr/>
        </p:nvSpPr>
        <p:spPr>
          <a:xfrm>
            <a:off x="2365178" y="2439631"/>
            <a:ext cx="8418063" cy="1137501"/>
          </a:xfrm>
          <a:custGeom>
            <a:avLst/>
            <a:gdLst/>
            <a:ahLst/>
            <a:cxnLst/>
            <a:rect l="l" t="t" r="r" b="b"/>
            <a:pathLst>
              <a:path w="8418063" h="1137501">
                <a:moveTo>
                  <a:pt x="0" y="0"/>
                </a:moveTo>
                <a:lnTo>
                  <a:pt x="8418063" y="0"/>
                </a:lnTo>
                <a:lnTo>
                  <a:pt x="8418063" y="1137501"/>
                </a:lnTo>
                <a:lnTo>
                  <a:pt x="0" y="1137501"/>
                </a:lnTo>
                <a:lnTo>
                  <a:pt x="0" y="0"/>
                </a:lnTo>
                <a:close/>
              </a:path>
            </a:pathLst>
          </a:custGeom>
          <a:solidFill>
            <a:schemeClr val="accent4">
              <a:lumMod val="60000"/>
              <a:lumOff val="40000"/>
            </a:schemeClr>
          </a:solidFill>
        </p:spPr>
      </p:sp>
      <p:sp>
        <p:nvSpPr>
          <p:cNvPr id="30" name="Freeform 18">
            <a:extLst>
              <a:ext uri="{FF2B5EF4-FFF2-40B4-BE49-F238E27FC236}">
                <a16:creationId xmlns:a16="http://schemas.microsoft.com/office/drawing/2014/main" id="{77F70861-6935-9BA4-1702-244C76155731}"/>
              </a:ext>
            </a:extLst>
          </p:cNvPr>
          <p:cNvSpPr/>
          <p:nvPr/>
        </p:nvSpPr>
        <p:spPr>
          <a:xfrm>
            <a:off x="2431570" y="7763939"/>
            <a:ext cx="8418063" cy="1137501"/>
          </a:xfrm>
          <a:custGeom>
            <a:avLst/>
            <a:gdLst/>
            <a:ahLst/>
            <a:cxnLst/>
            <a:rect l="l" t="t" r="r" b="b"/>
            <a:pathLst>
              <a:path w="8418063" h="1137501">
                <a:moveTo>
                  <a:pt x="0" y="0"/>
                </a:moveTo>
                <a:lnTo>
                  <a:pt x="8418063" y="0"/>
                </a:lnTo>
                <a:lnTo>
                  <a:pt x="8418063" y="1137501"/>
                </a:lnTo>
                <a:lnTo>
                  <a:pt x="0" y="1137501"/>
                </a:lnTo>
                <a:lnTo>
                  <a:pt x="0" y="0"/>
                </a:lnTo>
                <a:close/>
              </a:path>
            </a:pathLst>
          </a:custGeom>
          <a:solidFill>
            <a:schemeClr val="accent4">
              <a:lumMod val="60000"/>
              <a:lumOff val="40000"/>
            </a:schemeClr>
          </a:solidFill>
        </p:spPr>
      </p:sp>
      <p:sp>
        <p:nvSpPr>
          <p:cNvPr id="31" name="Freeform 18">
            <a:extLst>
              <a:ext uri="{FF2B5EF4-FFF2-40B4-BE49-F238E27FC236}">
                <a16:creationId xmlns:a16="http://schemas.microsoft.com/office/drawing/2014/main" id="{176F5236-949A-04CF-7127-ECA0BBFA4D4F}"/>
              </a:ext>
            </a:extLst>
          </p:cNvPr>
          <p:cNvSpPr/>
          <p:nvPr/>
        </p:nvSpPr>
        <p:spPr>
          <a:xfrm>
            <a:off x="2419103" y="3705308"/>
            <a:ext cx="8418063" cy="1137501"/>
          </a:xfrm>
          <a:custGeom>
            <a:avLst/>
            <a:gdLst/>
            <a:ahLst/>
            <a:cxnLst/>
            <a:rect l="l" t="t" r="r" b="b"/>
            <a:pathLst>
              <a:path w="8418063" h="1137501">
                <a:moveTo>
                  <a:pt x="0" y="0"/>
                </a:moveTo>
                <a:lnTo>
                  <a:pt x="8418063" y="0"/>
                </a:lnTo>
                <a:lnTo>
                  <a:pt x="8418063" y="1137501"/>
                </a:lnTo>
                <a:lnTo>
                  <a:pt x="0" y="1137501"/>
                </a:lnTo>
                <a:lnTo>
                  <a:pt x="0" y="0"/>
                </a:lnTo>
                <a:close/>
              </a:path>
            </a:pathLst>
          </a:custGeom>
          <a:solidFill>
            <a:schemeClr val="accent4">
              <a:lumMod val="60000"/>
              <a:lumOff val="40000"/>
            </a:schemeClr>
          </a:solidFill>
        </p:spPr>
      </p:sp>
      <p:sp>
        <p:nvSpPr>
          <p:cNvPr id="32" name="Freeform 18">
            <a:extLst>
              <a:ext uri="{FF2B5EF4-FFF2-40B4-BE49-F238E27FC236}">
                <a16:creationId xmlns:a16="http://schemas.microsoft.com/office/drawing/2014/main" id="{3F6752D5-39BC-91F8-BEBE-F460C2906113}"/>
              </a:ext>
            </a:extLst>
          </p:cNvPr>
          <p:cNvSpPr/>
          <p:nvPr/>
        </p:nvSpPr>
        <p:spPr>
          <a:xfrm>
            <a:off x="2392392" y="5121031"/>
            <a:ext cx="8418063" cy="1137501"/>
          </a:xfrm>
          <a:custGeom>
            <a:avLst/>
            <a:gdLst/>
            <a:ahLst/>
            <a:cxnLst/>
            <a:rect l="l" t="t" r="r" b="b"/>
            <a:pathLst>
              <a:path w="8418063" h="1137501">
                <a:moveTo>
                  <a:pt x="0" y="0"/>
                </a:moveTo>
                <a:lnTo>
                  <a:pt x="8418063" y="0"/>
                </a:lnTo>
                <a:lnTo>
                  <a:pt x="8418063" y="1137501"/>
                </a:lnTo>
                <a:lnTo>
                  <a:pt x="0" y="1137501"/>
                </a:lnTo>
                <a:lnTo>
                  <a:pt x="0" y="0"/>
                </a:lnTo>
                <a:close/>
              </a:path>
            </a:pathLst>
          </a:custGeom>
          <a:solidFill>
            <a:schemeClr val="accent4">
              <a:lumMod val="60000"/>
              <a:lumOff val="40000"/>
            </a:schemeClr>
          </a:solidFill>
        </p:spPr>
      </p:sp>
      <p:sp>
        <p:nvSpPr>
          <p:cNvPr id="33" name="TextBox 32">
            <a:extLst>
              <a:ext uri="{FF2B5EF4-FFF2-40B4-BE49-F238E27FC236}">
                <a16:creationId xmlns:a16="http://schemas.microsoft.com/office/drawing/2014/main" id="{E998658A-3555-CCA3-3DB6-CECBC8FF5DE4}"/>
              </a:ext>
            </a:extLst>
          </p:cNvPr>
          <p:cNvSpPr txBox="1"/>
          <p:nvPr/>
        </p:nvSpPr>
        <p:spPr>
          <a:xfrm>
            <a:off x="2431570" y="2781300"/>
            <a:ext cx="8084030" cy="830997"/>
          </a:xfrm>
          <a:prstGeom prst="rect">
            <a:avLst/>
          </a:prstGeom>
          <a:noFill/>
        </p:spPr>
        <p:txBody>
          <a:bodyPr wrap="square" rtlCol="0">
            <a:spAutoFit/>
          </a:bodyPr>
          <a:lstStyle/>
          <a:p>
            <a:pPr marL="342900" indent="-342900">
              <a:buFont typeface="Arial" panose="020B0604020202020204" pitchFamily="34" charset="0"/>
              <a:buChar char="•"/>
            </a:pPr>
            <a:r>
              <a:rPr lang="en-US" sz="2400" b="1" dirty="0"/>
              <a:t>The system shall ensure security and privacy of patient data.</a:t>
            </a:r>
            <a:endParaRPr lang="en-IN" sz="2400" b="1" dirty="0"/>
          </a:p>
        </p:txBody>
      </p:sp>
      <p:sp>
        <p:nvSpPr>
          <p:cNvPr id="34" name="TextBox 33">
            <a:extLst>
              <a:ext uri="{FF2B5EF4-FFF2-40B4-BE49-F238E27FC236}">
                <a16:creationId xmlns:a16="http://schemas.microsoft.com/office/drawing/2014/main" id="{E9C3FEF9-16E2-9E60-F96D-CF456E3D0E7A}"/>
              </a:ext>
            </a:extLst>
          </p:cNvPr>
          <p:cNvSpPr txBox="1"/>
          <p:nvPr/>
        </p:nvSpPr>
        <p:spPr>
          <a:xfrm>
            <a:off x="2431570" y="4100683"/>
            <a:ext cx="8117331" cy="830997"/>
          </a:xfrm>
          <a:prstGeom prst="rect">
            <a:avLst/>
          </a:prstGeom>
          <a:noFill/>
        </p:spPr>
        <p:txBody>
          <a:bodyPr wrap="square" rtlCol="0">
            <a:spAutoFit/>
          </a:bodyPr>
          <a:lstStyle/>
          <a:p>
            <a:pPr marL="342900" indent="-342900">
              <a:buFont typeface="Arial" panose="020B0604020202020204" pitchFamily="34" charset="0"/>
              <a:buChar char="•"/>
            </a:pPr>
            <a:r>
              <a:rPr lang="en-US" sz="2400" b="1" dirty="0"/>
              <a:t>The system shall provide high accuracy in transcription and note generation.</a:t>
            </a:r>
            <a:endParaRPr lang="en-IN" sz="2400" b="1" dirty="0"/>
          </a:p>
        </p:txBody>
      </p:sp>
      <p:sp>
        <p:nvSpPr>
          <p:cNvPr id="35" name="TextBox 34">
            <a:extLst>
              <a:ext uri="{FF2B5EF4-FFF2-40B4-BE49-F238E27FC236}">
                <a16:creationId xmlns:a16="http://schemas.microsoft.com/office/drawing/2014/main" id="{D5A7A4EB-715E-3242-1153-B8434BAFFEE2}"/>
              </a:ext>
            </a:extLst>
          </p:cNvPr>
          <p:cNvSpPr txBox="1"/>
          <p:nvPr/>
        </p:nvSpPr>
        <p:spPr>
          <a:xfrm>
            <a:off x="2431570" y="5498715"/>
            <a:ext cx="7848585" cy="830997"/>
          </a:xfrm>
          <a:prstGeom prst="rect">
            <a:avLst/>
          </a:prstGeom>
          <a:noFill/>
        </p:spPr>
        <p:txBody>
          <a:bodyPr wrap="square" rtlCol="0">
            <a:spAutoFit/>
          </a:bodyPr>
          <a:lstStyle/>
          <a:p>
            <a:pPr marL="342900" indent="-342900">
              <a:buFont typeface="Arial" panose="020B0604020202020204" pitchFamily="34" charset="0"/>
              <a:buChar char="•"/>
            </a:pPr>
            <a:r>
              <a:rPr lang="en-US" sz="2400" b="1" dirty="0"/>
              <a:t>The system shall be reliable and available during consultation processing.</a:t>
            </a:r>
            <a:endParaRPr lang="en-IN" sz="2400" b="1" dirty="0"/>
          </a:p>
        </p:txBody>
      </p:sp>
      <p:sp>
        <p:nvSpPr>
          <p:cNvPr id="37" name="TextBox 36">
            <a:extLst>
              <a:ext uri="{FF2B5EF4-FFF2-40B4-BE49-F238E27FC236}">
                <a16:creationId xmlns:a16="http://schemas.microsoft.com/office/drawing/2014/main" id="{72DF8F45-ADA6-2E90-8AAE-6170D77F0A1A}"/>
              </a:ext>
            </a:extLst>
          </p:cNvPr>
          <p:cNvSpPr txBox="1"/>
          <p:nvPr/>
        </p:nvSpPr>
        <p:spPr>
          <a:xfrm>
            <a:off x="2554983" y="6604394"/>
            <a:ext cx="8236430" cy="830997"/>
          </a:xfrm>
          <a:prstGeom prst="rect">
            <a:avLst/>
          </a:prstGeom>
          <a:noFill/>
        </p:spPr>
        <p:txBody>
          <a:bodyPr wrap="square" rtlCol="0">
            <a:spAutoFit/>
          </a:bodyPr>
          <a:lstStyle/>
          <a:p>
            <a:pPr marL="342900" indent="-342900">
              <a:buFont typeface="Arial" panose="020B0604020202020204" pitchFamily="34" charset="0"/>
              <a:buChar char="•"/>
            </a:pPr>
            <a:r>
              <a:rPr lang="en-US" sz="2400" b="1" dirty="0"/>
              <a:t>The system shall provide fast response and retrieval performance.</a:t>
            </a:r>
            <a:endParaRPr lang="en-IN" sz="2400" b="1" dirty="0"/>
          </a:p>
        </p:txBody>
      </p:sp>
      <p:sp>
        <p:nvSpPr>
          <p:cNvPr id="39" name="TextBox 38">
            <a:extLst>
              <a:ext uri="{FF2B5EF4-FFF2-40B4-BE49-F238E27FC236}">
                <a16:creationId xmlns:a16="http://schemas.microsoft.com/office/drawing/2014/main" id="{7F91303A-BBD0-9EDA-D756-788F31B7CBD0}"/>
              </a:ext>
            </a:extLst>
          </p:cNvPr>
          <p:cNvSpPr txBox="1"/>
          <p:nvPr/>
        </p:nvSpPr>
        <p:spPr>
          <a:xfrm>
            <a:off x="2590800" y="8109801"/>
            <a:ext cx="7924800" cy="830997"/>
          </a:xfrm>
          <a:prstGeom prst="rect">
            <a:avLst/>
          </a:prstGeom>
          <a:noFill/>
        </p:spPr>
        <p:txBody>
          <a:bodyPr wrap="square" rtlCol="0">
            <a:spAutoFit/>
          </a:bodyPr>
          <a:lstStyle/>
          <a:p>
            <a:pPr marL="342900" indent="-342900">
              <a:buFont typeface="Arial" panose="020B0604020202020204" pitchFamily="34" charset="0"/>
              <a:buChar char="•"/>
            </a:pPr>
            <a:r>
              <a:rPr lang="en-US" sz="2400" b="1" dirty="0"/>
              <a:t>The system shall offer a user-friendly and easy-to-use interface.</a:t>
            </a:r>
            <a:endParaRPr lang="en-IN" sz="2400" b="1" dirty="0"/>
          </a:p>
        </p:txBody>
      </p:sp>
    </p:spTree>
    <p:extLst>
      <p:ext uri="{BB962C8B-B14F-4D97-AF65-F5344CB8AC3E}">
        <p14:creationId xmlns:p14="http://schemas.microsoft.com/office/powerpoint/2010/main" val="22942194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solidFill>
            <a:schemeClr val="accent6">
              <a:lumMod val="20000"/>
              <a:lumOff val="80000"/>
            </a:schemeClr>
          </a:solidFill>
        </p:spPr>
        <p:txBody>
          <a:bodyPr/>
          <a:lstStyle/>
          <a:p>
            <a:endParaRPr lang="en-IN" dirty="0"/>
          </a:p>
        </p:txBody>
      </p:sp>
      <p:sp>
        <p:nvSpPr>
          <p:cNvPr id="12" name="Freeform 12"/>
          <p:cNvSpPr/>
          <p:nvPr/>
        </p:nvSpPr>
        <p:spPr>
          <a:xfrm>
            <a:off x="1253582" y="1236854"/>
            <a:ext cx="16411036" cy="8229600"/>
          </a:xfrm>
          <a:custGeom>
            <a:avLst/>
            <a:gdLst/>
            <a:ahLst/>
            <a:cxnLst/>
            <a:rect l="l" t="t" r="r" b="b"/>
            <a:pathLst>
              <a:path w="16411036" h="8229600">
                <a:moveTo>
                  <a:pt x="0" y="0"/>
                </a:moveTo>
                <a:lnTo>
                  <a:pt x="16411036" y="0"/>
                </a:lnTo>
                <a:lnTo>
                  <a:pt x="16411036" y="8229600"/>
                </a:lnTo>
                <a:lnTo>
                  <a:pt x="0" y="8229600"/>
                </a:lnTo>
                <a:lnTo>
                  <a:pt x="0" y="0"/>
                </a:lnTo>
                <a:close/>
              </a:path>
            </a:pathLst>
          </a:custGeom>
          <a:blipFill>
            <a:blip r:embed="rId2">
              <a:alphaModFix amt="84000"/>
            </a:blip>
            <a:stretch>
              <a:fillRect t="-200677" r="-77874" b="-200677"/>
            </a:stretch>
          </a:blipFill>
        </p:spPr>
      </p:sp>
      <p:sp>
        <p:nvSpPr>
          <p:cNvPr id="17" name="Freeform 17"/>
          <p:cNvSpPr/>
          <p:nvPr/>
        </p:nvSpPr>
        <p:spPr>
          <a:xfrm>
            <a:off x="11565090" y="1064369"/>
            <a:ext cx="5950445" cy="8914525"/>
          </a:xfrm>
          <a:custGeom>
            <a:avLst/>
            <a:gdLst/>
            <a:ahLst/>
            <a:cxnLst/>
            <a:rect l="l" t="t" r="r" b="b"/>
            <a:pathLst>
              <a:path w="5950445" h="8914525">
                <a:moveTo>
                  <a:pt x="0" y="0"/>
                </a:moveTo>
                <a:lnTo>
                  <a:pt x="5950445" y="0"/>
                </a:lnTo>
                <a:lnTo>
                  <a:pt x="5950445" y="8914525"/>
                </a:lnTo>
                <a:lnTo>
                  <a:pt x="0" y="8914525"/>
                </a:lnTo>
                <a:lnTo>
                  <a:pt x="0" y="0"/>
                </a:lnTo>
                <a:close/>
              </a:path>
            </a:pathLst>
          </a:custGeom>
          <a:blipFill>
            <a:blip r:embed="rId3">
              <a:alphaModFix amt="43999"/>
            </a:blip>
            <a:stretch>
              <a:fillRect/>
            </a:stretch>
          </a:blipFill>
        </p:spPr>
      </p:sp>
      <p:sp>
        <p:nvSpPr>
          <p:cNvPr id="20" name="Freeform 20"/>
          <p:cNvSpPr/>
          <p:nvPr/>
        </p:nvSpPr>
        <p:spPr>
          <a:xfrm>
            <a:off x="2408217" y="6471491"/>
            <a:ext cx="8418063" cy="1137501"/>
          </a:xfrm>
          <a:custGeom>
            <a:avLst/>
            <a:gdLst/>
            <a:ahLst/>
            <a:cxnLst/>
            <a:rect l="l" t="t" r="r" b="b"/>
            <a:pathLst>
              <a:path w="8418063" h="1137501">
                <a:moveTo>
                  <a:pt x="0" y="0"/>
                </a:moveTo>
                <a:lnTo>
                  <a:pt x="8418063" y="0"/>
                </a:lnTo>
                <a:lnTo>
                  <a:pt x="8418063" y="1137501"/>
                </a:lnTo>
                <a:lnTo>
                  <a:pt x="0" y="1137501"/>
                </a:lnTo>
                <a:lnTo>
                  <a:pt x="0" y="0"/>
                </a:lnTo>
                <a:close/>
              </a:path>
            </a:pathLst>
          </a:custGeom>
          <a:solidFill>
            <a:schemeClr val="accent6">
              <a:lumMod val="40000"/>
              <a:lumOff val="60000"/>
            </a:schemeClr>
          </a:solidFill>
        </p:spPr>
      </p:sp>
      <p:sp>
        <p:nvSpPr>
          <p:cNvPr id="25" name="TextBox 25"/>
          <p:cNvSpPr txBox="1"/>
          <p:nvPr/>
        </p:nvSpPr>
        <p:spPr>
          <a:xfrm>
            <a:off x="2333982" y="1460330"/>
            <a:ext cx="9492853" cy="1247649"/>
          </a:xfrm>
          <a:prstGeom prst="rect">
            <a:avLst/>
          </a:prstGeom>
        </p:spPr>
        <p:txBody>
          <a:bodyPr lIns="0" tIns="0" rIns="0" bIns="0" rtlCol="0" anchor="t">
            <a:spAutoFit/>
          </a:bodyPr>
          <a:lstStyle/>
          <a:p>
            <a:pPr>
              <a:lnSpc>
                <a:spcPts val="4775"/>
              </a:lnSpc>
            </a:pPr>
            <a:r>
              <a:rPr lang="en-IN" sz="5400" b="1" dirty="0"/>
              <a:t>Task Identification</a:t>
            </a:r>
          </a:p>
          <a:p>
            <a:pPr algn="l">
              <a:lnSpc>
                <a:spcPts val="4775"/>
              </a:lnSpc>
            </a:pPr>
            <a:endParaRPr lang="en-US" sz="4923" b="1" dirty="0">
              <a:solidFill>
                <a:srgbClr val="000000"/>
              </a:solidFill>
              <a:latin typeface="Bricolage Grotesque Bold"/>
              <a:ea typeface="Bricolage Grotesque Bold"/>
              <a:cs typeface="Bricolage Grotesque Bold"/>
              <a:sym typeface="Bricolage Grotesque Bold"/>
            </a:endParaRPr>
          </a:p>
        </p:txBody>
      </p:sp>
      <p:sp>
        <p:nvSpPr>
          <p:cNvPr id="29" name="Freeform 18">
            <a:extLst>
              <a:ext uri="{FF2B5EF4-FFF2-40B4-BE49-F238E27FC236}">
                <a16:creationId xmlns:a16="http://schemas.microsoft.com/office/drawing/2014/main" id="{F6D00205-4E6A-D97B-83B9-9DBE091A80EA}"/>
              </a:ext>
            </a:extLst>
          </p:cNvPr>
          <p:cNvSpPr/>
          <p:nvPr/>
        </p:nvSpPr>
        <p:spPr>
          <a:xfrm>
            <a:off x="2365178" y="2439631"/>
            <a:ext cx="8418063" cy="1137501"/>
          </a:xfrm>
          <a:custGeom>
            <a:avLst/>
            <a:gdLst/>
            <a:ahLst/>
            <a:cxnLst/>
            <a:rect l="l" t="t" r="r" b="b"/>
            <a:pathLst>
              <a:path w="8418063" h="1137501">
                <a:moveTo>
                  <a:pt x="0" y="0"/>
                </a:moveTo>
                <a:lnTo>
                  <a:pt x="8418063" y="0"/>
                </a:lnTo>
                <a:lnTo>
                  <a:pt x="8418063" y="1137501"/>
                </a:lnTo>
                <a:lnTo>
                  <a:pt x="0" y="1137501"/>
                </a:lnTo>
                <a:lnTo>
                  <a:pt x="0" y="0"/>
                </a:lnTo>
                <a:close/>
              </a:path>
            </a:pathLst>
          </a:custGeom>
          <a:solidFill>
            <a:schemeClr val="accent6">
              <a:lumMod val="40000"/>
              <a:lumOff val="60000"/>
            </a:schemeClr>
          </a:solidFill>
        </p:spPr>
      </p:sp>
      <p:sp>
        <p:nvSpPr>
          <p:cNvPr id="30" name="Freeform 18">
            <a:extLst>
              <a:ext uri="{FF2B5EF4-FFF2-40B4-BE49-F238E27FC236}">
                <a16:creationId xmlns:a16="http://schemas.microsoft.com/office/drawing/2014/main" id="{77F70861-6935-9BA4-1702-244C76155731}"/>
              </a:ext>
            </a:extLst>
          </p:cNvPr>
          <p:cNvSpPr/>
          <p:nvPr/>
        </p:nvSpPr>
        <p:spPr>
          <a:xfrm>
            <a:off x="2431570" y="7763939"/>
            <a:ext cx="8418063" cy="1137501"/>
          </a:xfrm>
          <a:custGeom>
            <a:avLst/>
            <a:gdLst/>
            <a:ahLst/>
            <a:cxnLst/>
            <a:rect l="l" t="t" r="r" b="b"/>
            <a:pathLst>
              <a:path w="8418063" h="1137501">
                <a:moveTo>
                  <a:pt x="0" y="0"/>
                </a:moveTo>
                <a:lnTo>
                  <a:pt x="8418063" y="0"/>
                </a:lnTo>
                <a:lnTo>
                  <a:pt x="8418063" y="1137501"/>
                </a:lnTo>
                <a:lnTo>
                  <a:pt x="0" y="1137501"/>
                </a:lnTo>
                <a:lnTo>
                  <a:pt x="0" y="0"/>
                </a:lnTo>
                <a:close/>
              </a:path>
            </a:pathLst>
          </a:custGeom>
          <a:solidFill>
            <a:schemeClr val="accent6">
              <a:lumMod val="40000"/>
              <a:lumOff val="60000"/>
            </a:schemeClr>
          </a:solidFill>
        </p:spPr>
      </p:sp>
      <p:sp>
        <p:nvSpPr>
          <p:cNvPr id="31" name="Freeform 18">
            <a:extLst>
              <a:ext uri="{FF2B5EF4-FFF2-40B4-BE49-F238E27FC236}">
                <a16:creationId xmlns:a16="http://schemas.microsoft.com/office/drawing/2014/main" id="{176F5236-949A-04CF-7127-ECA0BBFA4D4F}"/>
              </a:ext>
            </a:extLst>
          </p:cNvPr>
          <p:cNvSpPr/>
          <p:nvPr/>
        </p:nvSpPr>
        <p:spPr>
          <a:xfrm>
            <a:off x="2419103" y="3705308"/>
            <a:ext cx="8418063" cy="1137501"/>
          </a:xfrm>
          <a:custGeom>
            <a:avLst/>
            <a:gdLst/>
            <a:ahLst/>
            <a:cxnLst/>
            <a:rect l="l" t="t" r="r" b="b"/>
            <a:pathLst>
              <a:path w="8418063" h="1137501">
                <a:moveTo>
                  <a:pt x="0" y="0"/>
                </a:moveTo>
                <a:lnTo>
                  <a:pt x="8418063" y="0"/>
                </a:lnTo>
                <a:lnTo>
                  <a:pt x="8418063" y="1137501"/>
                </a:lnTo>
                <a:lnTo>
                  <a:pt x="0" y="1137501"/>
                </a:lnTo>
                <a:lnTo>
                  <a:pt x="0" y="0"/>
                </a:lnTo>
                <a:close/>
              </a:path>
            </a:pathLst>
          </a:custGeom>
          <a:solidFill>
            <a:schemeClr val="accent6">
              <a:lumMod val="40000"/>
              <a:lumOff val="60000"/>
            </a:schemeClr>
          </a:solidFill>
        </p:spPr>
      </p:sp>
      <p:sp>
        <p:nvSpPr>
          <p:cNvPr id="32" name="Freeform 18">
            <a:extLst>
              <a:ext uri="{FF2B5EF4-FFF2-40B4-BE49-F238E27FC236}">
                <a16:creationId xmlns:a16="http://schemas.microsoft.com/office/drawing/2014/main" id="{3F6752D5-39BC-91F8-BEBE-F460C2906113}"/>
              </a:ext>
            </a:extLst>
          </p:cNvPr>
          <p:cNvSpPr/>
          <p:nvPr/>
        </p:nvSpPr>
        <p:spPr>
          <a:xfrm>
            <a:off x="2392392" y="5121031"/>
            <a:ext cx="8418063" cy="1137501"/>
          </a:xfrm>
          <a:custGeom>
            <a:avLst/>
            <a:gdLst/>
            <a:ahLst/>
            <a:cxnLst/>
            <a:rect l="l" t="t" r="r" b="b"/>
            <a:pathLst>
              <a:path w="8418063" h="1137501">
                <a:moveTo>
                  <a:pt x="0" y="0"/>
                </a:moveTo>
                <a:lnTo>
                  <a:pt x="8418063" y="0"/>
                </a:lnTo>
                <a:lnTo>
                  <a:pt x="8418063" y="1137501"/>
                </a:lnTo>
                <a:lnTo>
                  <a:pt x="0" y="1137501"/>
                </a:lnTo>
                <a:lnTo>
                  <a:pt x="0" y="0"/>
                </a:lnTo>
                <a:close/>
              </a:path>
            </a:pathLst>
          </a:custGeom>
          <a:solidFill>
            <a:schemeClr val="accent6">
              <a:lumMod val="40000"/>
              <a:lumOff val="60000"/>
            </a:schemeClr>
          </a:solidFill>
        </p:spPr>
      </p:sp>
      <p:sp>
        <p:nvSpPr>
          <p:cNvPr id="33" name="TextBox 32">
            <a:extLst>
              <a:ext uri="{FF2B5EF4-FFF2-40B4-BE49-F238E27FC236}">
                <a16:creationId xmlns:a16="http://schemas.microsoft.com/office/drawing/2014/main" id="{E998658A-3555-CCA3-3DB6-CECBC8FF5DE4}"/>
              </a:ext>
            </a:extLst>
          </p:cNvPr>
          <p:cNvSpPr txBox="1"/>
          <p:nvPr/>
        </p:nvSpPr>
        <p:spPr>
          <a:xfrm>
            <a:off x="2507770" y="2665346"/>
            <a:ext cx="8084030" cy="830997"/>
          </a:xfrm>
          <a:prstGeom prst="rect">
            <a:avLst/>
          </a:prstGeom>
          <a:noFill/>
        </p:spPr>
        <p:txBody>
          <a:bodyPr wrap="square" rtlCol="0">
            <a:spAutoFit/>
          </a:bodyPr>
          <a:lstStyle/>
          <a:p>
            <a:r>
              <a:rPr lang="en-US" sz="2400" b="1" dirty="0"/>
              <a:t>Authentication Module</a:t>
            </a:r>
            <a:r>
              <a:rPr lang="en-US" sz="2400" dirty="0"/>
              <a:t> – Handles clinician login and secure access to the system</a:t>
            </a:r>
            <a:r>
              <a:rPr lang="en-US" dirty="0"/>
              <a:t>.</a:t>
            </a:r>
            <a:endParaRPr lang="en-IN" dirty="0"/>
          </a:p>
        </p:txBody>
      </p:sp>
      <p:sp>
        <p:nvSpPr>
          <p:cNvPr id="34" name="TextBox 33">
            <a:extLst>
              <a:ext uri="{FF2B5EF4-FFF2-40B4-BE49-F238E27FC236}">
                <a16:creationId xmlns:a16="http://schemas.microsoft.com/office/drawing/2014/main" id="{E9C3FEF9-16E2-9E60-F96D-CF456E3D0E7A}"/>
              </a:ext>
            </a:extLst>
          </p:cNvPr>
          <p:cNvSpPr txBox="1"/>
          <p:nvPr/>
        </p:nvSpPr>
        <p:spPr>
          <a:xfrm>
            <a:off x="2465980" y="3954816"/>
            <a:ext cx="8117331" cy="830997"/>
          </a:xfrm>
          <a:prstGeom prst="rect">
            <a:avLst/>
          </a:prstGeom>
          <a:noFill/>
        </p:spPr>
        <p:txBody>
          <a:bodyPr wrap="square" rtlCol="0">
            <a:spAutoFit/>
          </a:bodyPr>
          <a:lstStyle/>
          <a:p>
            <a:r>
              <a:rPr lang="en-US" sz="2400" b="1" dirty="0"/>
              <a:t>Audio Processing Module</a:t>
            </a:r>
            <a:r>
              <a:rPr lang="en-US" sz="2400" dirty="0"/>
              <a:t> – Accepts consultation audio and performs speech-to-text conversion.</a:t>
            </a:r>
            <a:endParaRPr lang="en-IN" sz="2400" dirty="0"/>
          </a:p>
        </p:txBody>
      </p:sp>
      <p:sp>
        <p:nvSpPr>
          <p:cNvPr id="35" name="TextBox 34">
            <a:extLst>
              <a:ext uri="{FF2B5EF4-FFF2-40B4-BE49-F238E27FC236}">
                <a16:creationId xmlns:a16="http://schemas.microsoft.com/office/drawing/2014/main" id="{D5A7A4EB-715E-3242-1153-B8434BAFFEE2}"/>
              </a:ext>
            </a:extLst>
          </p:cNvPr>
          <p:cNvSpPr txBox="1"/>
          <p:nvPr/>
        </p:nvSpPr>
        <p:spPr>
          <a:xfrm>
            <a:off x="2507770" y="5315438"/>
            <a:ext cx="7848585" cy="830997"/>
          </a:xfrm>
          <a:prstGeom prst="rect">
            <a:avLst/>
          </a:prstGeom>
          <a:noFill/>
        </p:spPr>
        <p:txBody>
          <a:bodyPr wrap="square" rtlCol="0">
            <a:spAutoFit/>
          </a:bodyPr>
          <a:lstStyle/>
          <a:p>
            <a:r>
              <a:rPr lang="en-US" sz="2400" b="1" dirty="0"/>
              <a:t>Speaker Identification Module</a:t>
            </a:r>
            <a:r>
              <a:rPr lang="en-US" sz="2400" dirty="0"/>
              <a:t> – Identifies and separates doctor and patient speech segments.</a:t>
            </a:r>
            <a:endParaRPr lang="en-IN" sz="2400" dirty="0"/>
          </a:p>
        </p:txBody>
      </p:sp>
      <p:sp>
        <p:nvSpPr>
          <p:cNvPr id="37" name="TextBox 36">
            <a:extLst>
              <a:ext uri="{FF2B5EF4-FFF2-40B4-BE49-F238E27FC236}">
                <a16:creationId xmlns:a16="http://schemas.microsoft.com/office/drawing/2014/main" id="{72DF8F45-ADA6-2E90-8AAE-6170D77F0A1A}"/>
              </a:ext>
            </a:extLst>
          </p:cNvPr>
          <p:cNvSpPr txBox="1"/>
          <p:nvPr/>
        </p:nvSpPr>
        <p:spPr>
          <a:xfrm>
            <a:off x="2483208" y="6576069"/>
            <a:ext cx="8236430" cy="830997"/>
          </a:xfrm>
          <a:prstGeom prst="rect">
            <a:avLst/>
          </a:prstGeom>
          <a:noFill/>
        </p:spPr>
        <p:txBody>
          <a:bodyPr wrap="square" rtlCol="0">
            <a:spAutoFit/>
          </a:bodyPr>
          <a:lstStyle/>
          <a:p>
            <a:r>
              <a:rPr lang="en-IN" sz="2400" b="1" dirty="0"/>
              <a:t>Clinical Entity Extraction Module</a:t>
            </a:r>
            <a:r>
              <a:rPr lang="en-IN" sz="2400" dirty="0"/>
              <a:t> – Extracts symptoms, diagnoses, medications, and other clinical information.</a:t>
            </a:r>
          </a:p>
        </p:txBody>
      </p:sp>
      <p:sp>
        <p:nvSpPr>
          <p:cNvPr id="39" name="TextBox 38">
            <a:extLst>
              <a:ext uri="{FF2B5EF4-FFF2-40B4-BE49-F238E27FC236}">
                <a16:creationId xmlns:a16="http://schemas.microsoft.com/office/drawing/2014/main" id="{7F91303A-BBD0-9EDA-D756-788F31B7CBD0}"/>
              </a:ext>
            </a:extLst>
          </p:cNvPr>
          <p:cNvSpPr txBox="1"/>
          <p:nvPr/>
        </p:nvSpPr>
        <p:spPr>
          <a:xfrm>
            <a:off x="2607772" y="7916798"/>
            <a:ext cx="7924800" cy="830997"/>
          </a:xfrm>
          <a:prstGeom prst="rect">
            <a:avLst/>
          </a:prstGeom>
          <a:noFill/>
        </p:spPr>
        <p:txBody>
          <a:bodyPr wrap="square" rtlCol="0">
            <a:spAutoFit/>
          </a:bodyPr>
          <a:lstStyle/>
          <a:p>
            <a:r>
              <a:rPr lang="en-US" sz="2400" b="1" dirty="0"/>
              <a:t>SOAP Note Generation Module</a:t>
            </a:r>
            <a:r>
              <a:rPr lang="en-US" sz="2400" dirty="0"/>
              <a:t> – Generates structured SOAP notes from consultation transcripts.</a:t>
            </a:r>
            <a:endParaRPr lang="en-IN" sz="2400" dirty="0"/>
          </a:p>
        </p:txBody>
      </p:sp>
      <p:sp>
        <p:nvSpPr>
          <p:cNvPr id="18" name="Freeform 20">
            <a:extLst>
              <a:ext uri="{FF2B5EF4-FFF2-40B4-BE49-F238E27FC236}">
                <a16:creationId xmlns:a16="http://schemas.microsoft.com/office/drawing/2014/main" id="{0C3219EF-044E-7B5D-9568-D6B7028CBED7}"/>
              </a:ext>
            </a:extLst>
          </p:cNvPr>
          <p:cNvSpPr/>
          <p:nvPr/>
        </p:nvSpPr>
        <p:spPr>
          <a:xfrm>
            <a:off x="11186521" y="4469512"/>
            <a:ext cx="6179931" cy="5809135"/>
          </a:xfrm>
          <a:custGeom>
            <a:avLst/>
            <a:gdLst/>
            <a:ahLst/>
            <a:cxnLst/>
            <a:rect l="l" t="t" r="r" b="b"/>
            <a:pathLst>
              <a:path w="6179931" h="5809135">
                <a:moveTo>
                  <a:pt x="0" y="0"/>
                </a:moveTo>
                <a:lnTo>
                  <a:pt x="6179930" y="0"/>
                </a:lnTo>
                <a:lnTo>
                  <a:pt x="6179930" y="5809136"/>
                </a:lnTo>
                <a:lnTo>
                  <a:pt x="0" y="580913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9" name="Freeform 19">
            <a:extLst>
              <a:ext uri="{FF2B5EF4-FFF2-40B4-BE49-F238E27FC236}">
                <a16:creationId xmlns:a16="http://schemas.microsoft.com/office/drawing/2014/main" id="{6978DA12-1ED5-792E-FBE3-882615B9AA3C}"/>
              </a:ext>
            </a:extLst>
          </p:cNvPr>
          <p:cNvSpPr/>
          <p:nvPr/>
        </p:nvSpPr>
        <p:spPr>
          <a:xfrm flipH="1">
            <a:off x="-184268" y="3424252"/>
            <a:ext cx="2322805" cy="6723910"/>
          </a:xfrm>
          <a:custGeom>
            <a:avLst/>
            <a:gdLst/>
            <a:ahLst/>
            <a:cxnLst/>
            <a:rect l="l" t="t" r="r" b="b"/>
            <a:pathLst>
              <a:path w="2322805" h="6723910">
                <a:moveTo>
                  <a:pt x="2322805" y="0"/>
                </a:moveTo>
                <a:lnTo>
                  <a:pt x="0" y="0"/>
                </a:lnTo>
                <a:lnTo>
                  <a:pt x="0" y="6723910"/>
                </a:lnTo>
                <a:lnTo>
                  <a:pt x="2322805" y="6723910"/>
                </a:lnTo>
                <a:lnTo>
                  <a:pt x="2322805" y="0"/>
                </a:lnTo>
                <a:close/>
              </a:path>
            </a:pathLst>
          </a:custGeom>
          <a:blipFill>
            <a:blip r:embed="rId6">
              <a:extLst>
                <a:ext uri="{96DAC541-7B7A-43D3-8B79-37D633B846F1}">
                  <asvg:svgBlip xmlns:asvg="http://schemas.microsoft.com/office/drawing/2016/SVG/main" r:embed="rId7"/>
                </a:ext>
              </a:extLst>
            </a:blip>
            <a:stretch>
              <a:fillRect/>
            </a:stretch>
          </a:blipFill>
        </p:spPr>
      </p:sp>
    </p:spTree>
    <p:extLst>
      <p:ext uri="{BB962C8B-B14F-4D97-AF65-F5344CB8AC3E}">
        <p14:creationId xmlns:p14="http://schemas.microsoft.com/office/powerpoint/2010/main" val="9020802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41380" y="-175813"/>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solidFill>
            <a:schemeClr val="accent6">
              <a:lumMod val="20000"/>
              <a:lumOff val="80000"/>
            </a:schemeClr>
          </a:solidFill>
        </p:spPr>
        <p:txBody>
          <a:bodyPr/>
          <a:lstStyle/>
          <a:p>
            <a:endParaRPr lang="en-IN" dirty="0"/>
          </a:p>
        </p:txBody>
      </p:sp>
      <p:sp>
        <p:nvSpPr>
          <p:cNvPr id="12" name="Freeform 12"/>
          <p:cNvSpPr/>
          <p:nvPr/>
        </p:nvSpPr>
        <p:spPr>
          <a:xfrm>
            <a:off x="1413719" y="1460215"/>
            <a:ext cx="16411036" cy="8229600"/>
          </a:xfrm>
          <a:custGeom>
            <a:avLst/>
            <a:gdLst/>
            <a:ahLst/>
            <a:cxnLst/>
            <a:rect l="l" t="t" r="r" b="b"/>
            <a:pathLst>
              <a:path w="16411036" h="8229600">
                <a:moveTo>
                  <a:pt x="0" y="0"/>
                </a:moveTo>
                <a:lnTo>
                  <a:pt x="16411036" y="0"/>
                </a:lnTo>
                <a:lnTo>
                  <a:pt x="16411036" y="8229600"/>
                </a:lnTo>
                <a:lnTo>
                  <a:pt x="0" y="8229600"/>
                </a:lnTo>
                <a:lnTo>
                  <a:pt x="0" y="0"/>
                </a:lnTo>
                <a:close/>
              </a:path>
            </a:pathLst>
          </a:custGeom>
          <a:blipFill>
            <a:blip r:embed="rId2">
              <a:alphaModFix amt="84000"/>
            </a:blip>
            <a:stretch>
              <a:fillRect t="-200677" r="-77874" b="-200677"/>
            </a:stretch>
          </a:blipFill>
        </p:spPr>
      </p:sp>
      <p:sp>
        <p:nvSpPr>
          <p:cNvPr id="15" name="TextBox 15"/>
          <p:cNvSpPr txBox="1"/>
          <p:nvPr/>
        </p:nvSpPr>
        <p:spPr>
          <a:xfrm>
            <a:off x="1028700" y="117495"/>
            <a:ext cx="2080680" cy="682145"/>
          </a:xfrm>
          <a:prstGeom prst="rect">
            <a:avLst/>
          </a:prstGeom>
        </p:spPr>
        <p:txBody>
          <a:bodyPr lIns="50800" tIns="50800" rIns="50800" bIns="50800" rtlCol="0" anchor="ctr"/>
          <a:lstStyle/>
          <a:p>
            <a:pPr algn="ctr">
              <a:lnSpc>
                <a:spcPts val="2659"/>
              </a:lnSpc>
              <a:spcBef>
                <a:spcPct val="0"/>
              </a:spcBef>
            </a:pPr>
            <a:endParaRPr/>
          </a:p>
        </p:txBody>
      </p:sp>
      <p:sp>
        <p:nvSpPr>
          <p:cNvPr id="20" name="Freeform 20"/>
          <p:cNvSpPr/>
          <p:nvPr/>
        </p:nvSpPr>
        <p:spPr>
          <a:xfrm>
            <a:off x="2392392" y="6504792"/>
            <a:ext cx="8418063" cy="1137501"/>
          </a:xfrm>
          <a:custGeom>
            <a:avLst/>
            <a:gdLst/>
            <a:ahLst/>
            <a:cxnLst/>
            <a:rect l="l" t="t" r="r" b="b"/>
            <a:pathLst>
              <a:path w="8418063" h="1137501">
                <a:moveTo>
                  <a:pt x="0" y="0"/>
                </a:moveTo>
                <a:lnTo>
                  <a:pt x="8418063" y="0"/>
                </a:lnTo>
                <a:lnTo>
                  <a:pt x="8418063" y="1137501"/>
                </a:lnTo>
                <a:lnTo>
                  <a:pt x="0" y="1137501"/>
                </a:lnTo>
                <a:lnTo>
                  <a:pt x="0" y="0"/>
                </a:lnTo>
                <a:close/>
              </a:path>
            </a:pathLst>
          </a:custGeom>
          <a:solidFill>
            <a:schemeClr val="accent6">
              <a:lumMod val="40000"/>
              <a:lumOff val="60000"/>
            </a:schemeClr>
          </a:solidFill>
        </p:spPr>
      </p:sp>
      <p:sp>
        <p:nvSpPr>
          <p:cNvPr id="24" name="TextBox 24"/>
          <p:cNvSpPr txBox="1"/>
          <p:nvPr/>
        </p:nvSpPr>
        <p:spPr>
          <a:xfrm>
            <a:off x="1834083" y="372137"/>
            <a:ext cx="1062190" cy="276679"/>
          </a:xfrm>
          <a:prstGeom prst="rect">
            <a:avLst/>
          </a:prstGeom>
        </p:spPr>
        <p:txBody>
          <a:bodyPr lIns="0" tIns="0" rIns="0" bIns="0" rtlCol="0" anchor="t">
            <a:spAutoFit/>
          </a:bodyPr>
          <a:lstStyle/>
          <a:p>
            <a:pPr algn="l">
              <a:lnSpc>
                <a:spcPts val="2335"/>
              </a:lnSpc>
            </a:pPr>
            <a:r>
              <a:rPr lang="en-US" sz="1730" b="1" spc="181" dirty="0">
                <a:solidFill>
                  <a:srgbClr val="1F2B5B"/>
                </a:solidFill>
                <a:latin typeface="Roboto Bold"/>
                <a:ea typeface="Roboto Bold"/>
                <a:cs typeface="Roboto Bold"/>
                <a:sym typeface="Roboto Bold"/>
              </a:rPr>
              <a:t> </a:t>
            </a:r>
          </a:p>
        </p:txBody>
      </p:sp>
      <p:sp>
        <p:nvSpPr>
          <p:cNvPr id="25" name="TextBox 25"/>
          <p:cNvSpPr txBox="1"/>
          <p:nvPr/>
        </p:nvSpPr>
        <p:spPr>
          <a:xfrm>
            <a:off x="2333982" y="1460330"/>
            <a:ext cx="9492853" cy="1247649"/>
          </a:xfrm>
          <a:prstGeom prst="rect">
            <a:avLst/>
          </a:prstGeom>
        </p:spPr>
        <p:txBody>
          <a:bodyPr lIns="0" tIns="0" rIns="0" bIns="0" rtlCol="0" anchor="t">
            <a:spAutoFit/>
          </a:bodyPr>
          <a:lstStyle/>
          <a:p>
            <a:pPr>
              <a:lnSpc>
                <a:spcPts val="4775"/>
              </a:lnSpc>
            </a:pPr>
            <a:r>
              <a:rPr lang="en-IN" sz="5400" b="1" dirty="0"/>
              <a:t>Task Identification</a:t>
            </a:r>
          </a:p>
          <a:p>
            <a:pPr algn="l">
              <a:lnSpc>
                <a:spcPts val="4775"/>
              </a:lnSpc>
            </a:pPr>
            <a:endParaRPr lang="en-US" sz="4923" b="1" dirty="0">
              <a:solidFill>
                <a:srgbClr val="000000"/>
              </a:solidFill>
              <a:latin typeface="Bricolage Grotesque Bold"/>
              <a:ea typeface="Bricolage Grotesque Bold"/>
              <a:cs typeface="Bricolage Grotesque Bold"/>
              <a:sym typeface="Bricolage Grotesque Bold"/>
            </a:endParaRPr>
          </a:p>
        </p:txBody>
      </p:sp>
      <p:sp>
        <p:nvSpPr>
          <p:cNvPr id="29" name="Freeform 18">
            <a:extLst>
              <a:ext uri="{FF2B5EF4-FFF2-40B4-BE49-F238E27FC236}">
                <a16:creationId xmlns:a16="http://schemas.microsoft.com/office/drawing/2014/main" id="{F6D00205-4E6A-D97B-83B9-9DBE091A80EA}"/>
              </a:ext>
            </a:extLst>
          </p:cNvPr>
          <p:cNvSpPr/>
          <p:nvPr/>
        </p:nvSpPr>
        <p:spPr>
          <a:xfrm>
            <a:off x="2365178" y="2439631"/>
            <a:ext cx="8418063" cy="1137501"/>
          </a:xfrm>
          <a:custGeom>
            <a:avLst/>
            <a:gdLst/>
            <a:ahLst/>
            <a:cxnLst/>
            <a:rect l="l" t="t" r="r" b="b"/>
            <a:pathLst>
              <a:path w="8418063" h="1137501">
                <a:moveTo>
                  <a:pt x="0" y="0"/>
                </a:moveTo>
                <a:lnTo>
                  <a:pt x="8418063" y="0"/>
                </a:lnTo>
                <a:lnTo>
                  <a:pt x="8418063" y="1137501"/>
                </a:lnTo>
                <a:lnTo>
                  <a:pt x="0" y="1137501"/>
                </a:lnTo>
                <a:lnTo>
                  <a:pt x="0" y="0"/>
                </a:lnTo>
                <a:close/>
              </a:path>
            </a:pathLst>
          </a:custGeom>
          <a:solidFill>
            <a:schemeClr val="accent6">
              <a:lumMod val="40000"/>
              <a:lumOff val="60000"/>
            </a:schemeClr>
          </a:solidFill>
        </p:spPr>
      </p:sp>
      <p:sp>
        <p:nvSpPr>
          <p:cNvPr id="31" name="Freeform 18">
            <a:extLst>
              <a:ext uri="{FF2B5EF4-FFF2-40B4-BE49-F238E27FC236}">
                <a16:creationId xmlns:a16="http://schemas.microsoft.com/office/drawing/2014/main" id="{176F5236-949A-04CF-7127-ECA0BBFA4D4F}"/>
              </a:ext>
            </a:extLst>
          </p:cNvPr>
          <p:cNvSpPr/>
          <p:nvPr/>
        </p:nvSpPr>
        <p:spPr>
          <a:xfrm>
            <a:off x="2425049" y="3786304"/>
            <a:ext cx="8418063" cy="1137501"/>
          </a:xfrm>
          <a:custGeom>
            <a:avLst/>
            <a:gdLst/>
            <a:ahLst/>
            <a:cxnLst/>
            <a:rect l="l" t="t" r="r" b="b"/>
            <a:pathLst>
              <a:path w="8418063" h="1137501">
                <a:moveTo>
                  <a:pt x="0" y="0"/>
                </a:moveTo>
                <a:lnTo>
                  <a:pt x="8418063" y="0"/>
                </a:lnTo>
                <a:lnTo>
                  <a:pt x="8418063" y="1137501"/>
                </a:lnTo>
                <a:lnTo>
                  <a:pt x="0" y="1137501"/>
                </a:lnTo>
                <a:lnTo>
                  <a:pt x="0" y="0"/>
                </a:lnTo>
                <a:close/>
              </a:path>
            </a:pathLst>
          </a:custGeom>
          <a:solidFill>
            <a:schemeClr val="accent6">
              <a:lumMod val="40000"/>
              <a:lumOff val="60000"/>
            </a:schemeClr>
          </a:solidFill>
        </p:spPr>
      </p:sp>
      <p:sp>
        <p:nvSpPr>
          <p:cNvPr id="32" name="Freeform 18">
            <a:extLst>
              <a:ext uri="{FF2B5EF4-FFF2-40B4-BE49-F238E27FC236}">
                <a16:creationId xmlns:a16="http://schemas.microsoft.com/office/drawing/2014/main" id="{3F6752D5-39BC-91F8-BEBE-F460C2906113}"/>
              </a:ext>
            </a:extLst>
          </p:cNvPr>
          <p:cNvSpPr/>
          <p:nvPr/>
        </p:nvSpPr>
        <p:spPr>
          <a:xfrm>
            <a:off x="2392392" y="5121031"/>
            <a:ext cx="8418063" cy="1137501"/>
          </a:xfrm>
          <a:custGeom>
            <a:avLst/>
            <a:gdLst/>
            <a:ahLst/>
            <a:cxnLst/>
            <a:rect l="l" t="t" r="r" b="b"/>
            <a:pathLst>
              <a:path w="8418063" h="1137501">
                <a:moveTo>
                  <a:pt x="0" y="0"/>
                </a:moveTo>
                <a:lnTo>
                  <a:pt x="8418063" y="0"/>
                </a:lnTo>
                <a:lnTo>
                  <a:pt x="8418063" y="1137501"/>
                </a:lnTo>
                <a:lnTo>
                  <a:pt x="0" y="1137501"/>
                </a:lnTo>
                <a:lnTo>
                  <a:pt x="0" y="0"/>
                </a:lnTo>
                <a:close/>
              </a:path>
            </a:pathLst>
          </a:custGeom>
          <a:solidFill>
            <a:schemeClr val="accent6">
              <a:lumMod val="40000"/>
              <a:lumOff val="60000"/>
            </a:schemeClr>
          </a:solidFill>
        </p:spPr>
      </p:sp>
      <p:sp>
        <p:nvSpPr>
          <p:cNvPr id="33" name="TextBox 32">
            <a:extLst>
              <a:ext uri="{FF2B5EF4-FFF2-40B4-BE49-F238E27FC236}">
                <a16:creationId xmlns:a16="http://schemas.microsoft.com/office/drawing/2014/main" id="{E998658A-3555-CCA3-3DB6-CECBC8FF5DE4}"/>
              </a:ext>
            </a:extLst>
          </p:cNvPr>
          <p:cNvSpPr txBox="1"/>
          <p:nvPr/>
        </p:nvSpPr>
        <p:spPr>
          <a:xfrm>
            <a:off x="2359554" y="2592882"/>
            <a:ext cx="8084030" cy="830997"/>
          </a:xfrm>
          <a:prstGeom prst="rect">
            <a:avLst/>
          </a:prstGeom>
          <a:noFill/>
        </p:spPr>
        <p:txBody>
          <a:bodyPr wrap="square" rtlCol="0">
            <a:spAutoFit/>
          </a:bodyPr>
          <a:lstStyle/>
          <a:p>
            <a:r>
              <a:rPr lang="en-IN" sz="2400" b="1" dirty="0"/>
              <a:t>Sensitive Information Removal Module</a:t>
            </a:r>
            <a:r>
              <a:rPr lang="en-IN" sz="2400" dirty="0"/>
              <a:t> – Removes confidential patient information before storage.</a:t>
            </a:r>
          </a:p>
        </p:txBody>
      </p:sp>
      <p:sp>
        <p:nvSpPr>
          <p:cNvPr id="34" name="TextBox 33">
            <a:extLst>
              <a:ext uri="{FF2B5EF4-FFF2-40B4-BE49-F238E27FC236}">
                <a16:creationId xmlns:a16="http://schemas.microsoft.com/office/drawing/2014/main" id="{E9C3FEF9-16E2-9E60-F96D-CF456E3D0E7A}"/>
              </a:ext>
            </a:extLst>
          </p:cNvPr>
          <p:cNvSpPr txBox="1"/>
          <p:nvPr/>
        </p:nvSpPr>
        <p:spPr>
          <a:xfrm>
            <a:off x="2431570" y="4100683"/>
            <a:ext cx="8117331" cy="830997"/>
          </a:xfrm>
          <a:prstGeom prst="rect">
            <a:avLst/>
          </a:prstGeom>
          <a:noFill/>
        </p:spPr>
        <p:txBody>
          <a:bodyPr wrap="square" rtlCol="0">
            <a:spAutoFit/>
          </a:bodyPr>
          <a:lstStyle/>
          <a:p>
            <a:r>
              <a:rPr lang="en-IN" sz="2400" b="1" dirty="0"/>
              <a:t>Hybrid RAG Retrieval Module</a:t>
            </a:r>
            <a:r>
              <a:rPr lang="en-IN" sz="2400" dirty="0"/>
              <a:t> – Retrieves relevant historical consultation records and patient history.</a:t>
            </a:r>
          </a:p>
        </p:txBody>
      </p:sp>
      <p:sp>
        <p:nvSpPr>
          <p:cNvPr id="35" name="TextBox 34">
            <a:extLst>
              <a:ext uri="{FF2B5EF4-FFF2-40B4-BE49-F238E27FC236}">
                <a16:creationId xmlns:a16="http://schemas.microsoft.com/office/drawing/2014/main" id="{D5A7A4EB-715E-3242-1153-B8434BAFFEE2}"/>
              </a:ext>
            </a:extLst>
          </p:cNvPr>
          <p:cNvSpPr txBox="1"/>
          <p:nvPr/>
        </p:nvSpPr>
        <p:spPr>
          <a:xfrm>
            <a:off x="2477277" y="5288354"/>
            <a:ext cx="7848585" cy="830997"/>
          </a:xfrm>
          <a:prstGeom prst="rect">
            <a:avLst/>
          </a:prstGeom>
          <a:noFill/>
        </p:spPr>
        <p:txBody>
          <a:bodyPr wrap="square" rtlCol="0">
            <a:spAutoFit/>
          </a:bodyPr>
          <a:lstStyle/>
          <a:p>
            <a:r>
              <a:rPr lang="en-US" sz="2400" b="1" dirty="0"/>
              <a:t>Database Management Module</a:t>
            </a:r>
            <a:r>
              <a:rPr lang="en-US" sz="2400" dirty="0"/>
              <a:t> – Stores consultation data, transcripts, and generated SOAP notes.</a:t>
            </a:r>
            <a:endParaRPr lang="en-IN" sz="2400" dirty="0"/>
          </a:p>
        </p:txBody>
      </p:sp>
      <p:sp>
        <p:nvSpPr>
          <p:cNvPr id="37" name="TextBox 36">
            <a:extLst>
              <a:ext uri="{FF2B5EF4-FFF2-40B4-BE49-F238E27FC236}">
                <a16:creationId xmlns:a16="http://schemas.microsoft.com/office/drawing/2014/main" id="{72DF8F45-ADA6-2E90-8AAE-6170D77F0A1A}"/>
              </a:ext>
            </a:extLst>
          </p:cNvPr>
          <p:cNvSpPr txBox="1"/>
          <p:nvPr/>
        </p:nvSpPr>
        <p:spPr>
          <a:xfrm>
            <a:off x="2474828" y="6694261"/>
            <a:ext cx="8236430" cy="830997"/>
          </a:xfrm>
          <a:prstGeom prst="rect">
            <a:avLst/>
          </a:prstGeom>
          <a:noFill/>
        </p:spPr>
        <p:txBody>
          <a:bodyPr wrap="square" rtlCol="0">
            <a:spAutoFit/>
          </a:bodyPr>
          <a:lstStyle/>
          <a:p>
            <a:r>
              <a:rPr lang="en-US" sz="2400" b="1" dirty="0"/>
              <a:t>Frontend Dashboard Module</a:t>
            </a:r>
            <a:r>
              <a:rPr lang="en-US" sz="2400" dirty="0"/>
              <a:t> – Provides interfaces for audio upload, note review, and patient history management.</a:t>
            </a:r>
            <a:endParaRPr lang="en-IN" sz="2400" dirty="0"/>
          </a:p>
        </p:txBody>
      </p:sp>
      <p:sp>
        <p:nvSpPr>
          <p:cNvPr id="18" name="Freeform 20">
            <a:extLst>
              <a:ext uri="{FF2B5EF4-FFF2-40B4-BE49-F238E27FC236}">
                <a16:creationId xmlns:a16="http://schemas.microsoft.com/office/drawing/2014/main" id="{2810D2C8-C660-2AB6-485F-63AC1B493CE5}"/>
              </a:ext>
            </a:extLst>
          </p:cNvPr>
          <p:cNvSpPr/>
          <p:nvPr/>
        </p:nvSpPr>
        <p:spPr>
          <a:xfrm>
            <a:off x="11893750" y="3907732"/>
            <a:ext cx="6179931" cy="5809135"/>
          </a:xfrm>
          <a:custGeom>
            <a:avLst/>
            <a:gdLst/>
            <a:ahLst/>
            <a:cxnLst/>
            <a:rect l="l" t="t" r="r" b="b"/>
            <a:pathLst>
              <a:path w="6179931" h="5809135">
                <a:moveTo>
                  <a:pt x="0" y="0"/>
                </a:moveTo>
                <a:lnTo>
                  <a:pt x="6179930" y="0"/>
                </a:lnTo>
                <a:lnTo>
                  <a:pt x="6179930" y="5809136"/>
                </a:lnTo>
                <a:lnTo>
                  <a:pt x="0" y="580913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9" name="Freeform 19">
            <a:extLst>
              <a:ext uri="{FF2B5EF4-FFF2-40B4-BE49-F238E27FC236}">
                <a16:creationId xmlns:a16="http://schemas.microsoft.com/office/drawing/2014/main" id="{164BD5CA-1BF2-1471-3D1C-73FC0850A571}"/>
              </a:ext>
            </a:extLst>
          </p:cNvPr>
          <p:cNvSpPr/>
          <p:nvPr/>
        </p:nvSpPr>
        <p:spPr>
          <a:xfrm flipH="1">
            <a:off x="-486479" y="2992957"/>
            <a:ext cx="2322805" cy="6723910"/>
          </a:xfrm>
          <a:custGeom>
            <a:avLst/>
            <a:gdLst/>
            <a:ahLst/>
            <a:cxnLst/>
            <a:rect l="l" t="t" r="r" b="b"/>
            <a:pathLst>
              <a:path w="2322805" h="6723910">
                <a:moveTo>
                  <a:pt x="2322805" y="0"/>
                </a:moveTo>
                <a:lnTo>
                  <a:pt x="0" y="0"/>
                </a:lnTo>
                <a:lnTo>
                  <a:pt x="0" y="6723910"/>
                </a:lnTo>
                <a:lnTo>
                  <a:pt x="2322805" y="6723910"/>
                </a:lnTo>
                <a:lnTo>
                  <a:pt x="2322805" y="0"/>
                </a:lnTo>
                <a:close/>
              </a:path>
            </a:pathLst>
          </a:custGeom>
          <a:blipFill>
            <a:blip r:embed="rId5">
              <a:extLst>
                <a:ext uri="{96DAC541-7B7A-43D3-8B79-37D633B846F1}">
                  <asvg:svgBlip xmlns:asvg="http://schemas.microsoft.com/office/drawing/2016/SVG/main" r:embed="rId6"/>
                </a:ext>
              </a:extLst>
            </a:blip>
            <a:stretch>
              <a:fillRect/>
            </a:stretch>
          </a:blipFill>
        </p:spPr>
      </p:sp>
    </p:spTree>
    <p:extLst>
      <p:ext uri="{BB962C8B-B14F-4D97-AF65-F5344CB8AC3E}">
        <p14:creationId xmlns:p14="http://schemas.microsoft.com/office/powerpoint/2010/main" val="5638370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Freeform 3"/>
          <p:cNvSpPr/>
          <p:nvPr/>
        </p:nvSpPr>
        <p:spPr>
          <a:xfrm>
            <a:off x="0" y="1028700"/>
            <a:ext cx="17259300" cy="8537979"/>
          </a:xfrm>
          <a:custGeom>
            <a:avLst/>
            <a:gdLst/>
            <a:ahLst/>
            <a:cxnLst/>
            <a:rect l="l" t="t" r="r" b="b"/>
            <a:pathLst>
              <a:path w="17259300" h="8537979">
                <a:moveTo>
                  <a:pt x="0" y="0"/>
                </a:moveTo>
                <a:lnTo>
                  <a:pt x="17259300" y="0"/>
                </a:lnTo>
                <a:lnTo>
                  <a:pt x="17259300" y="8537979"/>
                </a:lnTo>
                <a:lnTo>
                  <a:pt x="0" y="8537979"/>
                </a:lnTo>
                <a:lnTo>
                  <a:pt x="0" y="0"/>
                </a:lnTo>
                <a:close/>
              </a:path>
            </a:pathLst>
          </a:custGeom>
          <a:solidFill>
            <a:schemeClr val="accent6">
              <a:lumMod val="20000"/>
              <a:lumOff val="80000"/>
            </a:schemeClr>
          </a:solidFill>
        </p:spPr>
      </p:sp>
      <p:sp>
        <p:nvSpPr>
          <p:cNvPr id="18" name="Freeform 18"/>
          <p:cNvSpPr/>
          <p:nvPr/>
        </p:nvSpPr>
        <p:spPr>
          <a:xfrm>
            <a:off x="391978" y="308379"/>
            <a:ext cx="1273444" cy="720075"/>
          </a:xfrm>
          <a:custGeom>
            <a:avLst/>
            <a:gdLst/>
            <a:ahLst/>
            <a:cxnLst/>
            <a:rect l="l" t="t" r="r" b="b"/>
            <a:pathLst>
              <a:path w="1273444" h="720075">
                <a:moveTo>
                  <a:pt x="0" y="0"/>
                </a:moveTo>
                <a:lnTo>
                  <a:pt x="1273444" y="0"/>
                </a:lnTo>
                <a:lnTo>
                  <a:pt x="1273444" y="720075"/>
                </a:lnTo>
                <a:lnTo>
                  <a:pt x="0" y="72007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pic>
        <p:nvPicPr>
          <p:cNvPr id="28" name="Picture 27">
            <a:extLst>
              <a:ext uri="{FF2B5EF4-FFF2-40B4-BE49-F238E27FC236}">
                <a16:creationId xmlns:a16="http://schemas.microsoft.com/office/drawing/2014/main" id="{B4C19BC8-7D71-F16F-66A2-C21CA56FF9A0}"/>
              </a:ext>
            </a:extLst>
          </p:cNvPr>
          <p:cNvPicPr>
            <a:picLocks noChangeAspect="1"/>
          </p:cNvPicPr>
          <p:nvPr/>
        </p:nvPicPr>
        <p:blipFill>
          <a:blip r:embed="rId5"/>
          <a:stretch>
            <a:fillRect/>
          </a:stretch>
        </p:blipFill>
        <p:spPr>
          <a:xfrm>
            <a:off x="1080361" y="1028454"/>
            <a:ext cx="16815661" cy="8763246"/>
          </a:xfrm>
          <a:prstGeom prst="rect">
            <a:avLst/>
          </a:prstGeom>
        </p:spPr>
      </p:pic>
    </p:spTree>
    <p:extLst>
      <p:ext uri="{BB962C8B-B14F-4D97-AF65-F5344CB8AC3E}">
        <p14:creationId xmlns:p14="http://schemas.microsoft.com/office/powerpoint/2010/main" val="18601159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11"/>
          <p:cNvSpPr/>
          <p:nvPr/>
        </p:nvSpPr>
        <p:spPr>
          <a:xfrm flipH="1">
            <a:off x="14097000" y="735004"/>
            <a:ext cx="9365976" cy="9297860"/>
          </a:xfrm>
          <a:custGeom>
            <a:avLst/>
            <a:gdLst/>
            <a:ahLst/>
            <a:cxnLst/>
            <a:rect l="l" t="t" r="r" b="b"/>
            <a:pathLst>
              <a:path w="9365976" h="9297860">
                <a:moveTo>
                  <a:pt x="9365977" y="0"/>
                </a:moveTo>
                <a:lnTo>
                  <a:pt x="0" y="0"/>
                </a:lnTo>
                <a:lnTo>
                  <a:pt x="0" y="9297860"/>
                </a:lnTo>
                <a:lnTo>
                  <a:pt x="9365977" y="9297860"/>
                </a:lnTo>
                <a:lnTo>
                  <a:pt x="9365977" y="0"/>
                </a:lnTo>
                <a:close/>
              </a:path>
            </a:pathLst>
          </a:custGeom>
          <a:blipFill>
            <a:blip r:embed="rId2">
              <a:alphaModFix amt="81000"/>
              <a:extLst>
                <a:ext uri="{96DAC541-7B7A-43D3-8B79-37D633B846F1}">
                  <asvg:svgBlip xmlns:asvg="http://schemas.microsoft.com/office/drawing/2016/SVG/main" r:embed="rId3"/>
                </a:ext>
              </a:extLst>
            </a:blip>
            <a:stretch>
              <a:fillRect/>
            </a:stretch>
          </a:blipFill>
        </p:spPr>
      </p:sp>
      <p:sp>
        <p:nvSpPr>
          <p:cNvPr id="12" name="Freeform 12"/>
          <p:cNvSpPr/>
          <p:nvPr/>
        </p:nvSpPr>
        <p:spPr>
          <a:xfrm>
            <a:off x="152400" y="2976531"/>
            <a:ext cx="16411036" cy="8229600"/>
          </a:xfrm>
          <a:custGeom>
            <a:avLst/>
            <a:gdLst/>
            <a:ahLst/>
            <a:cxnLst/>
            <a:rect l="l" t="t" r="r" b="b"/>
            <a:pathLst>
              <a:path w="16411036" h="8229600">
                <a:moveTo>
                  <a:pt x="0" y="0"/>
                </a:moveTo>
                <a:lnTo>
                  <a:pt x="16411036" y="0"/>
                </a:lnTo>
                <a:lnTo>
                  <a:pt x="16411036" y="8229600"/>
                </a:lnTo>
                <a:lnTo>
                  <a:pt x="0" y="8229600"/>
                </a:lnTo>
                <a:lnTo>
                  <a:pt x="0" y="0"/>
                </a:lnTo>
                <a:close/>
              </a:path>
            </a:pathLst>
          </a:custGeom>
          <a:solidFill>
            <a:schemeClr val="bg1"/>
          </a:solidFill>
        </p:spPr>
        <p:txBody>
          <a:bodyPr/>
          <a:lstStyle/>
          <a:p>
            <a:endParaRPr lang="en-IN" dirty="0"/>
          </a:p>
        </p:txBody>
      </p:sp>
      <p:sp>
        <p:nvSpPr>
          <p:cNvPr id="16" name="Freeform 16"/>
          <p:cNvSpPr/>
          <p:nvPr/>
        </p:nvSpPr>
        <p:spPr>
          <a:xfrm>
            <a:off x="1197960" y="303485"/>
            <a:ext cx="431519" cy="431519"/>
          </a:xfrm>
          <a:custGeom>
            <a:avLst/>
            <a:gdLst/>
            <a:ahLst/>
            <a:cxnLst/>
            <a:rect l="l" t="t" r="r" b="b"/>
            <a:pathLst>
              <a:path w="431519" h="431519">
                <a:moveTo>
                  <a:pt x="0" y="0"/>
                </a:moveTo>
                <a:lnTo>
                  <a:pt x="431519" y="0"/>
                </a:lnTo>
                <a:lnTo>
                  <a:pt x="431519" y="431519"/>
                </a:lnTo>
                <a:lnTo>
                  <a:pt x="0" y="4315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7" name="Freeform 17"/>
          <p:cNvSpPr/>
          <p:nvPr/>
        </p:nvSpPr>
        <p:spPr>
          <a:xfrm flipV="1">
            <a:off x="1028700" y="1048480"/>
            <a:ext cx="5965628" cy="9258300"/>
          </a:xfrm>
          <a:custGeom>
            <a:avLst/>
            <a:gdLst/>
            <a:ahLst/>
            <a:cxnLst/>
            <a:rect l="l" t="t" r="r" b="b"/>
            <a:pathLst>
              <a:path w="5965628" h="9258300">
                <a:moveTo>
                  <a:pt x="0" y="9258300"/>
                </a:moveTo>
                <a:lnTo>
                  <a:pt x="5965628" y="9258300"/>
                </a:lnTo>
                <a:lnTo>
                  <a:pt x="5965628" y="0"/>
                </a:lnTo>
                <a:lnTo>
                  <a:pt x="0" y="0"/>
                </a:lnTo>
                <a:lnTo>
                  <a:pt x="0" y="9258300"/>
                </a:lnTo>
                <a:close/>
              </a:path>
            </a:pathLst>
          </a:custGeom>
          <a:blipFill>
            <a:blip r:embed="rId6">
              <a:alphaModFix amt="57000"/>
            </a:blip>
            <a:stretch>
              <a:fillRect l="-55194"/>
            </a:stretch>
          </a:blipFill>
        </p:spPr>
      </p:sp>
      <p:sp>
        <p:nvSpPr>
          <p:cNvPr id="18" name="Freeform 18"/>
          <p:cNvSpPr/>
          <p:nvPr/>
        </p:nvSpPr>
        <p:spPr>
          <a:xfrm flipH="1">
            <a:off x="1028700" y="2749141"/>
            <a:ext cx="5564310" cy="7537859"/>
          </a:xfrm>
          <a:custGeom>
            <a:avLst/>
            <a:gdLst/>
            <a:ahLst/>
            <a:cxnLst/>
            <a:rect l="l" t="t" r="r" b="b"/>
            <a:pathLst>
              <a:path w="5564310" h="7537859">
                <a:moveTo>
                  <a:pt x="5564310" y="0"/>
                </a:moveTo>
                <a:lnTo>
                  <a:pt x="0" y="0"/>
                </a:lnTo>
                <a:lnTo>
                  <a:pt x="0" y="7537859"/>
                </a:lnTo>
                <a:lnTo>
                  <a:pt x="5564310" y="7537859"/>
                </a:lnTo>
                <a:lnTo>
                  <a:pt x="556431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2" name="TextBox 22"/>
          <p:cNvSpPr txBox="1"/>
          <p:nvPr/>
        </p:nvSpPr>
        <p:spPr>
          <a:xfrm>
            <a:off x="6738878" y="1975814"/>
            <a:ext cx="10055017" cy="1863202"/>
          </a:xfrm>
          <a:prstGeom prst="rect">
            <a:avLst/>
          </a:prstGeom>
          <a:solidFill>
            <a:schemeClr val="accent2">
              <a:lumMod val="20000"/>
              <a:lumOff val="80000"/>
            </a:schemeClr>
          </a:solidFill>
        </p:spPr>
        <p:txBody>
          <a:bodyPr wrap="square" lIns="0" tIns="0" rIns="0" bIns="0" rtlCol="0" anchor="t">
            <a:spAutoFit/>
          </a:bodyPr>
          <a:lstStyle/>
          <a:p>
            <a:pPr>
              <a:lnSpc>
                <a:spcPts val="4775"/>
              </a:lnSpc>
            </a:pPr>
            <a:r>
              <a:rPr lang="en-US" sz="5400" b="1" dirty="0"/>
              <a:t>Applicability of the Problem Solution in the Societal Context</a:t>
            </a:r>
          </a:p>
          <a:p>
            <a:pPr algn="l">
              <a:lnSpc>
                <a:spcPts val="4775"/>
              </a:lnSpc>
            </a:pPr>
            <a:endParaRPr lang="en-US" sz="4923" b="1" dirty="0">
              <a:solidFill>
                <a:srgbClr val="000000"/>
              </a:solidFill>
              <a:latin typeface="Bricolage Grotesque Bold"/>
              <a:ea typeface="Bricolage Grotesque Bold"/>
              <a:cs typeface="Bricolage Grotesque Bold"/>
              <a:sym typeface="Bricolage Grotesque Bold"/>
            </a:endParaRPr>
          </a:p>
        </p:txBody>
      </p:sp>
      <p:sp>
        <p:nvSpPr>
          <p:cNvPr id="23" name="TextBox 23"/>
          <p:cNvSpPr txBox="1"/>
          <p:nvPr/>
        </p:nvSpPr>
        <p:spPr>
          <a:xfrm>
            <a:off x="7723409" y="3833342"/>
            <a:ext cx="8354791" cy="3825150"/>
          </a:xfrm>
          <a:prstGeom prst="rect">
            <a:avLst/>
          </a:prstGeom>
          <a:solidFill>
            <a:schemeClr val="accent2">
              <a:lumMod val="20000"/>
              <a:lumOff val="80000"/>
            </a:schemeClr>
          </a:solidFill>
        </p:spPr>
        <p:txBody>
          <a:bodyPr wrap="square" lIns="0" tIns="0" rIns="0" bIns="0" rtlCol="0" anchor="t">
            <a:spAutoFit/>
          </a:bodyPr>
          <a:lstStyle/>
          <a:p>
            <a:r>
              <a:rPr lang="en-US" sz="2400" dirty="0"/>
              <a:t>• </a:t>
            </a:r>
            <a:r>
              <a:rPr lang="en-US" sz="2800" dirty="0"/>
              <a:t>Reduces administrative workload for healthcare professionals.</a:t>
            </a:r>
            <a:br>
              <a:rPr lang="en-US" sz="2800" dirty="0"/>
            </a:br>
            <a:r>
              <a:rPr lang="en-US" sz="2800" dirty="0"/>
              <a:t>• Allows doctors to spend more time on patient care.</a:t>
            </a:r>
            <a:br>
              <a:rPr lang="en-US" sz="2800" dirty="0"/>
            </a:br>
            <a:r>
              <a:rPr lang="en-US" sz="2800" dirty="0"/>
              <a:t>• Improves quality and consistency of medical documentation.</a:t>
            </a:r>
            <a:br>
              <a:rPr lang="en-US" sz="2800" dirty="0"/>
            </a:br>
            <a:r>
              <a:rPr lang="en-US" sz="2800" dirty="0"/>
              <a:t>• Enhances continuity of care through patient history retrieval.</a:t>
            </a:r>
            <a:br>
              <a:rPr lang="en-US" sz="2800" dirty="0"/>
            </a:br>
            <a:r>
              <a:rPr lang="en-US" sz="2800" dirty="0"/>
              <a:t>• Supports digital transformation in healthcare systems.</a:t>
            </a:r>
          </a:p>
          <a:p>
            <a:pPr algn="l">
              <a:lnSpc>
                <a:spcPts val="3192"/>
              </a:lnSpc>
            </a:pPr>
            <a:endParaRPr lang="en-US" sz="2330" dirty="0">
              <a:solidFill>
                <a:srgbClr val="000000"/>
              </a:solidFill>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1666" b="-11666"/>
            </a:stretch>
          </a:blipFill>
        </p:spPr>
        <p:txBody>
          <a:bodyPr/>
          <a:lstStyle/>
          <a:p>
            <a:endParaRPr lang="en-IN" dirty="0"/>
          </a:p>
        </p:txBody>
      </p:sp>
      <p:sp>
        <p:nvSpPr>
          <p:cNvPr id="11" name="Freeform 11"/>
          <p:cNvSpPr/>
          <p:nvPr/>
        </p:nvSpPr>
        <p:spPr>
          <a:xfrm>
            <a:off x="-3666343" y="1028700"/>
            <a:ext cx="7332686" cy="9249948"/>
          </a:xfrm>
          <a:custGeom>
            <a:avLst/>
            <a:gdLst/>
            <a:ahLst/>
            <a:cxnLst/>
            <a:rect l="l" t="t" r="r" b="b"/>
            <a:pathLst>
              <a:path w="7332686" h="9249948">
                <a:moveTo>
                  <a:pt x="0" y="0"/>
                </a:moveTo>
                <a:lnTo>
                  <a:pt x="7332686" y="0"/>
                </a:lnTo>
                <a:lnTo>
                  <a:pt x="7332686" y="9249948"/>
                </a:lnTo>
                <a:lnTo>
                  <a:pt x="0" y="9249948"/>
                </a:lnTo>
                <a:lnTo>
                  <a:pt x="0" y="0"/>
                </a:lnTo>
                <a:close/>
              </a:path>
            </a:pathLst>
          </a:custGeom>
          <a:blipFill>
            <a:blip r:embed="rId3">
              <a:alphaModFix amt="81000"/>
              <a:extLst>
                <a:ext uri="{96DAC541-7B7A-43D3-8B79-37D633B846F1}">
                  <asvg:svgBlip xmlns:asvg="http://schemas.microsoft.com/office/drawing/2016/SVG/main" r:embed="rId4"/>
                </a:ext>
              </a:extLst>
            </a:blip>
            <a:stretch>
              <a:fillRect/>
            </a:stretch>
          </a:blipFill>
        </p:spPr>
      </p:sp>
      <p:sp>
        <p:nvSpPr>
          <p:cNvPr id="12" name="Freeform 12"/>
          <p:cNvSpPr/>
          <p:nvPr/>
        </p:nvSpPr>
        <p:spPr>
          <a:xfrm>
            <a:off x="848264" y="1028700"/>
            <a:ext cx="16411036" cy="8229600"/>
          </a:xfrm>
          <a:custGeom>
            <a:avLst/>
            <a:gdLst/>
            <a:ahLst/>
            <a:cxnLst/>
            <a:rect l="l" t="t" r="r" b="b"/>
            <a:pathLst>
              <a:path w="16411036" h="8229600">
                <a:moveTo>
                  <a:pt x="0" y="0"/>
                </a:moveTo>
                <a:lnTo>
                  <a:pt x="16411036" y="0"/>
                </a:lnTo>
                <a:lnTo>
                  <a:pt x="16411036" y="8229600"/>
                </a:lnTo>
                <a:lnTo>
                  <a:pt x="0" y="8229600"/>
                </a:lnTo>
                <a:lnTo>
                  <a:pt x="0" y="0"/>
                </a:lnTo>
                <a:close/>
              </a:path>
            </a:pathLst>
          </a:custGeom>
          <a:blipFill>
            <a:blip r:embed="rId5">
              <a:alphaModFix amt="84000"/>
            </a:blip>
            <a:stretch>
              <a:fillRect t="-200677" r="-77874" b="-200677"/>
            </a:stretch>
          </a:blipFill>
        </p:spPr>
      </p:sp>
      <p:sp>
        <p:nvSpPr>
          <p:cNvPr id="16" name="Freeform 16"/>
          <p:cNvSpPr/>
          <p:nvPr/>
        </p:nvSpPr>
        <p:spPr>
          <a:xfrm>
            <a:off x="1197960" y="303485"/>
            <a:ext cx="431519" cy="431519"/>
          </a:xfrm>
          <a:custGeom>
            <a:avLst/>
            <a:gdLst/>
            <a:ahLst/>
            <a:cxnLst/>
            <a:rect l="l" t="t" r="r" b="b"/>
            <a:pathLst>
              <a:path w="431519" h="431519">
                <a:moveTo>
                  <a:pt x="0" y="0"/>
                </a:moveTo>
                <a:lnTo>
                  <a:pt x="431519" y="0"/>
                </a:lnTo>
                <a:lnTo>
                  <a:pt x="431519" y="431519"/>
                </a:lnTo>
                <a:lnTo>
                  <a:pt x="0" y="43151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7" name="TextBox 17"/>
          <p:cNvSpPr txBox="1"/>
          <p:nvPr/>
        </p:nvSpPr>
        <p:spPr>
          <a:xfrm>
            <a:off x="2408217" y="2014228"/>
            <a:ext cx="9218186" cy="647678"/>
          </a:xfrm>
          <a:prstGeom prst="rect">
            <a:avLst/>
          </a:prstGeom>
        </p:spPr>
        <p:txBody>
          <a:bodyPr lIns="0" tIns="0" rIns="0" bIns="0" rtlCol="0" anchor="t">
            <a:spAutoFit/>
          </a:bodyPr>
          <a:lstStyle/>
          <a:p>
            <a:pPr algn="l">
              <a:lnSpc>
                <a:spcPts val="4775"/>
              </a:lnSpc>
            </a:pPr>
            <a:r>
              <a:rPr lang="en-IN" sz="5400" dirty="0"/>
              <a:t>Module Testing and Validation</a:t>
            </a:r>
            <a:endParaRPr lang="en-US" sz="4923" b="1" dirty="0">
              <a:solidFill>
                <a:srgbClr val="000000"/>
              </a:solidFill>
              <a:latin typeface="Bricolage Grotesque Bold"/>
              <a:ea typeface="Bricolage Grotesque Bold"/>
              <a:cs typeface="Bricolage Grotesque Bold"/>
              <a:sym typeface="Bricolage Grotesque Bold"/>
            </a:endParaRPr>
          </a:p>
        </p:txBody>
      </p:sp>
      <p:sp>
        <p:nvSpPr>
          <p:cNvPr id="21" name="Freeform 21"/>
          <p:cNvSpPr/>
          <p:nvPr/>
        </p:nvSpPr>
        <p:spPr>
          <a:xfrm flipH="1" flipV="1">
            <a:off x="11293672" y="1028700"/>
            <a:ext cx="5965628" cy="9258300"/>
          </a:xfrm>
          <a:custGeom>
            <a:avLst/>
            <a:gdLst/>
            <a:ahLst/>
            <a:cxnLst/>
            <a:rect l="l" t="t" r="r" b="b"/>
            <a:pathLst>
              <a:path w="5965628" h="9258300">
                <a:moveTo>
                  <a:pt x="5965628" y="9258300"/>
                </a:moveTo>
                <a:lnTo>
                  <a:pt x="0" y="9258300"/>
                </a:lnTo>
                <a:lnTo>
                  <a:pt x="0" y="0"/>
                </a:lnTo>
                <a:lnTo>
                  <a:pt x="5965628" y="0"/>
                </a:lnTo>
                <a:lnTo>
                  <a:pt x="5965628" y="9258300"/>
                </a:lnTo>
                <a:close/>
              </a:path>
            </a:pathLst>
          </a:custGeom>
          <a:blipFill>
            <a:blip r:embed="rId8">
              <a:alphaModFix amt="43999"/>
            </a:blip>
            <a:stretch>
              <a:fillRect l="-55194"/>
            </a:stretch>
          </a:blipFill>
        </p:spPr>
      </p:sp>
      <p:sp>
        <p:nvSpPr>
          <p:cNvPr id="22" name="TextBox 22"/>
          <p:cNvSpPr txBox="1"/>
          <p:nvPr/>
        </p:nvSpPr>
        <p:spPr>
          <a:xfrm>
            <a:off x="2365178" y="3640138"/>
            <a:ext cx="7748269" cy="5302477"/>
          </a:xfrm>
          <a:prstGeom prst="rect">
            <a:avLst/>
          </a:prstGeom>
        </p:spPr>
        <p:txBody>
          <a:bodyPr lIns="0" tIns="0" rIns="0" bIns="0" rtlCol="0" anchor="t">
            <a:spAutoFit/>
          </a:bodyPr>
          <a:lstStyle/>
          <a:p>
            <a:pPr marL="342900" indent="-342900">
              <a:buFont typeface="Wingdings" panose="05000000000000000000" pitchFamily="2" charset="2"/>
              <a:buChar char="ü"/>
            </a:pPr>
            <a:r>
              <a:rPr lang="en-US" sz="3200" dirty="0"/>
              <a:t>Unit testing performed on individual modules.</a:t>
            </a:r>
          </a:p>
          <a:p>
            <a:pPr marL="342900" indent="-342900">
              <a:buFont typeface="Wingdings" panose="05000000000000000000" pitchFamily="2" charset="2"/>
              <a:buChar char="ü"/>
            </a:pPr>
            <a:r>
              <a:rPr lang="en-US" sz="3200" dirty="0"/>
              <a:t> Integration testing verified communication between modules.</a:t>
            </a:r>
          </a:p>
          <a:p>
            <a:pPr marL="342900" indent="-342900">
              <a:buFont typeface="Wingdings" panose="05000000000000000000" pitchFamily="2" charset="2"/>
              <a:buChar char="ü"/>
            </a:pPr>
            <a:r>
              <a:rPr lang="en-US" sz="3200" dirty="0"/>
              <a:t> Acceptance testing validated complete workflow execution.</a:t>
            </a:r>
          </a:p>
          <a:p>
            <a:pPr marL="342900" indent="-342900">
              <a:buFont typeface="Wingdings" panose="05000000000000000000" pitchFamily="2" charset="2"/>
              <a:buChar char="ü"/>
            </a:pPr>
            <a:r>
              <a:rPr lang="en-US" sz="3200" dirty="0"/>
              <a:t> Performance testing evaluated processing and retrieval speed.</a:t>
            </a:r>
          </a:p>
          <a:p>
            <a:pPr marL="342900" indent="-342900">
              <a:buFont typeface="Wingdings" panose="05000000000000000000" pitchFamily="2" charset="2"/>
              <a:buChar char="ü"/>
            </a:pPr>
            <a:r>
              <a:rPr lang="en-US" sz="3200" dirty="0"/>
              <a:t>All major test cases were executed successfully.</a:t>
            </a:r>
          </a:p>
          <a:p>
            <a:pPr algn="l">
              <a:lnSpc>
                <a:spcPts val="3192"/>
              </a:lnSpc>
            </a:pPr>
            <a:endParaRPr lang="en-US" sz="2330" dirty="0">
              <a:solidFill>
                <a:srgbClr val="000000"/>
              </a:solidFill>
              <a:latin typeface="Inter"/>
              <a:ea typeface="Inter"/>
              <a:cs typeface="Inter"/>
              <a:sym typeface="Inter"/>
            </a:endParaRPr>
          </a:p>
        </p:txBody>
      </p:sp>
      <p:sp>
        <p:nvSpPr>
          <p:cNvPr id="23" name="Freeform 23"/>
          <p:cNvSpPr/>
          <p:nvPr/>
        </p:nvSpPr>
        <p:spPr>
          <a:xfrm>
            <a:off x="11349136" y="4943475"/>
            <a:ext cx="5854699" cy="5279874"/>
          </a:xfrm>
          <a:custGeom>
            <a:avLst/>
            <a:gdLst/>
            <a:ahLst/>
            <a:cxnLst/>
            <a:rect l="l" t="t" r="r" b="b"/>
            <a:pathLst>
              <a:path w="5854699" h="5279874">
                <a:moveTo>
                  <a:pt x="0" y="0"/>
                </a:moveTo>
                <a:lnTo>
                  <a:pt x="5854700" y="0"/>
                </a:lnTo>
                <a:lnTo>
                  <a:pt x="5854700" y="5279874"/>
                </a:lnTo>
                <a:lnTo>
                  <a:pt x="0" y="527987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4" name="Freeform 24"/>
          <p:cNvSpPr/>
          <p:nvPr/>
        </p:nvSpPr>
        <p:spPr>
          <a:xfrm>
            <a:off x="13430180" y="2869891"/>
            <a:ext cx="1692613" cy="1797176"/>
          </a:xfrm>
          <a:custGeom>
            <a:avLst/>
            <a:gdLst/>
            <a:ahLst/>
            <a:cxnLst/>
            <a:rect l="l" t="t" r="r" b="b"/>
            <a:pathLst>
              <a:path w="1692613" h="1797176">
                <a:moveTo>
                  <a:pt x="0" y="0"/>
                </a:moveTo>
                <a:lnTo>
                  <a:pt x="1692612" y="0"/>
                </a:lnTo>
                <a:lnTo>
                  <a:pt x="1692612" y="1797175"/>
                </a:lnTo>
                <a:lnTo>
                  <a:pt x="0" y="1797175"/>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1632" t="-29130" r="-14966"/>
            </a:stretch>
          </a:blipFill>
        </p:spPr>
      </p:sp>
      <p:sp>
        <p:nvSpPr>
          <p:cNvPr id="11" name="Freeform 11"/>
          <p:cNvSpPr/>
          <p:nvPr/>
        </p:nvSpPr>
        <p:spPr>
          <a:xfrm flipH="1">
            <a:off x="13913215" y="1028700"/>
            <a:ext cx="9365976" cy="9297860"/>
          </a:xfrm>
          <a:custGeom>
            <a:avLst/>
            <a:gdLst/>
            <a:ahLst/>
            <a:cxnLst/>
            <a:rect l="l" t="t" r="r" b="b"/>
            <a:pathLst>
              <a:path w="9365976" h="9297860">
                <a:moveTo>
                  <a:pt x="9365977" y="0"/>
                </a:moveTo>
                <a:lnTo>
                  <a:pt x="0" y="0"/>
                </a:lnTo>
                <a:lnTo>
                  <a:pt x="0" y="9297860"/>
                </a:lnTo>
                <a:lnTo>
                  <a:pt x="9365977" y="9297860"/>
                </a:lnTo>
                <a:lnTo>
                  <a:pt x="9365977" y="0"/>
                </a:lnTo>
                <a:close/>
              </a:path>
            </a:pathLst>
          </a:custGeom>
          <a:blipFill>
            <a:blip r:embed="rId3">
              <a:alphaModFix amt="81000"/>
              <a:extLst>
                <a:ext uri="{96DAC541-7B7A-43D3-8B79-37D633B846F1}">
                  <asvg:svgBlip xmlns:asvg="http://schemas.microsoft.com/office/drawing/2016/SVG/main" r:embed="rId4"/>
                </a:ext>
              </a:extLst>
            </a:blip>
            <a:stretch>
              <a:fillRect/>
            </a:stretch>
          </a:blipFill>
        </p:spPr>
      </p:sp>
      <p:sp>
        <p:nvSpPr>
          <p:cNvPr id="12" name="Freeform 12"/>
          <p:cNvSpPr/>
          <p:nvPr/>
        </p:nvSpPr>
        <p:spPr>
          <a:xfrm>
            <a:off x="848264" y="1028700"/>
            <a:ext cx="16411036" cy="8229600"/>
          </a:xfrm>
          <a:custGeom>
            <a:avLst/>
            <a:gdLst/>
            <a:ahLst/>
            <a:cxnLst/>
            <a:rect l="l" t="t" r="r" b="b"/>
            <a:pathLst>
              <a:path w="16411036" h="8229600">
                <a:moveTo>
                  <a:pt x="0" y="0"/>
                </a:moveTo>
                <a:lnTo>
                  <a:pt x="16411036" y="0"/>
                </a:lnTo>
                <a:lnTo>
                  <a:pt x="16411036" y="8229600"/>
                </a:lnTo>
                <a:lnTo>
                  <a:pt x="0" y="8229600"/>
                </a:lnTo>
                <a:lnTo>
                  <a:pt x="0" y="0"/>
                </a:lnTo>
                <a:close/>
              </a:path>
            </a:pathLst>
          </a:custGeom>
          <a:blipFill>
            <a:blip r:embed="rId5">
              <a:alphaModFix amt="76000"/>
            </a:blip>
            <a:stretch>
              <a:fillRect t="-200677" r="-77874" b="-200677"/>
            </a:stretch>
          </a:blipFill>
        </p:spPr>
      </p:sp>
      <p:sp>
        <p:nvSpPr>
          <p:cNvPr id="17" name="Freeform 17"/>
          <p:cNvSpPr/>
          <p:nvPr/>
        </p:nvSpPr>
        <p:spPr>
          <a:xfrm>
            <a:off x="1028700" y="1805857"/>
            <a:ext cx="5950445" cy="8914525"/>
          </a:xfrm>
          <a:custGeom>
            <a:avLst/>
            <a:gdLst/>
            <a:ahLst/>
            <a:cxnLst/>
            <a:rect l="l" t="t" r="r" b="b"/>
            <a:pathLst>
              <a:path w="5950445" h="8914525">
                <a:moveTo>
                  <a:pt x="0" y="0"/>
                </a:moveTo>
                <a:lnTo>
                  <a:pt x="5950445" y="0"/>
                </a:lnTo>
                <a:lnTo>
                  <a:pt x="5950445" y="8914525"/>
                </a:lnTo>
                <a:lnTo>
                  <a:pt x="0" y="8914525"/>
                </a:lnTo>
                <a:lnTo>
                  <a:pt x="0" y="0"/>
                </a:lnTo>
                <a:close/>
              </a:path>
            </a:pathLst>
          </a:custGeom>
          <a:blipFill>
            <a:blip r:embed="rId6">
              <a:alphaModFix amt="47000"/>
            </a:blip>
            <a:stretch>
              <a:fillRect/>
            </a:stretch>
          </a:blipFill>
        </p:spPr>
      </p:sp>
      <p:sp>
        <p:nvSpPr>
          <p:cNvPr id="18" name="Freeform 18"/>
          <p:cNvSpPr/>
          <p:nvPr/>
        </p:nvSpPr>
        <p:spPr>
          <a:xfrm>
            <a:off x="1028700" y="4358193"/>
            <a:ext cx="5950445" cy="5928807"/>
          </a:xfrm>
          <a:custGeom>
            <a:avLst/>
            <a:gdLst/>
            <a:ahLst/>
            <a:cxnLst/>
            <a:rect l="l" t="t" r="r" b="b"/>
            <a:pathLst>
              <a:path w="5950445" h="5928807">
                <a:moveTo>
                  <a:pt x="0" y="0"/>
                </a:moveTo>
                <a:lnTo>
                  <a:pt x="5950445" y="0"/>
                </a:lnTo>
                <a:lnTo>
                  <a:pt x="5950445" y="5928807"/>
                </a:lnTo>
                <a:lnTo>
                  <a:pt x="0" y="592880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9" name="TextBox 19"/>
          <p:cNvSpPr txBox="1"/>
          <p:nvPr/>
        </p:nvSpPr>
        <p:spPr>
          <a:xfrm>
            <a:off x="7959036" y="3469760"/>
            <a:ext cx="8126191" cy="5774786"/>
          </a:xfrm>
          <a:prstGeom prst="rect">
            <a:avLst/>
          </a:prstGeom>
        </p:spPr>
        <p:txBody>
          <a:bodyPr wrap="square" lIns="0" tIns="0" rIns="0" bIns="0" rtlCol="0" anchor="t">
            <a:spAutoFit/>
          </a:bodyPr>
          <a:lstStyle/>
          <a:p>
            <a:pPr marL="457200" indent="-457200" algn="l">
              <a:lnSpc>
                <a:spcPts val="3192"/>
              </a:lnSpc>
              <a:buFont typeface="Wingdings" panose="05000000000000000000" pitchFamily="2" charset="2"/>
              <a:buChar char="ü"/>
            </a:pPr>
            <a:r>
              <a:rPr lang="en-US" sz="4000" dirty="0"/>
              <a:t> Doctor voice enrollment completed successfully.</a:t>
            </a:r>
          </a:p>
          <a:p>
            <a:pPr algn="l">
              <a:lnSpc>
                <a:spcPts val="3192"/>
              </a:lnSpc>
            </a:pPr>
            <a:endParaRPr lang="en-US" sz="4000" dirty="0"/>
          </a:p>
          <a:p>
            <a:pPr marL="457200" indent="-457200" algn="l">
              <a:lnSpc>
                <a:spcPts val="3192"/>
              </a:lnSpc>
              <a:buFont typeface="Wingdings" panose="05000000000000000000" pitchFamily="2" charset="2"/>
              <a:buChar char="ü"/>
            </a:pPr>
            <a:r>
              <a:rPr lang="en-US" sz="4000" dirty="0"/>
              <a:t>Speaker </a:t>
            </a:r>
            <a:r>
              <a:rPr lang="en-US" sz="4000" dirty="0" err="1"/>
              <a:t>diarization</a:t>
            </a:r>
            <a:r>
              <a:rPr lang="en-US" sz="4000" dirty="0"/>
              <a:t> accurately identified speakers.</a:t>
            </a:r>
          </a:p>
          <a:p>
            <a:pPr algn="l">
              <a:lnSpc>
                <a:spcPts val="3192"/>
              </a:lnSpc>
            </a:pPr>
            <a:endParaRPr lang="en-US" sz="4000" dirty="0"/>
          </a:p>
          <a:p>
            <a:pPr marL="457200" indent="-457200" algn="l">
              <a:lnSpc>
                <a:spcPts val="3192"/>
              </a:lnSpc>
              <a:buFont typeface="Wingdings" panose="05000000000000000000" pitchFamily="2" charset="2"/>
              <a:buChar char="ü"/>
            </a:pPr>
            <a:r>
              <a:rPr lang="en-US" sz="4000" dirty="0"/>
              <a:t>Structured SOAP notes were generated correctly.</a:t>
            </a:r>
          </a:p>
          <a:p>
            <a:pPr algn="l">
              <a:lnSpc>
                <a:spcPts val="3192"/>
              </a:lnSpc>
            </a:pPr>
            <a:endParaRPr lang="en-US" sz="4000" dirty="0"/>
          </a:p>
          <a:p>
            <a:pPr marL="457200" indent="-457200" algn="l">
              <a:lnSpc>
                <a:spcPts val="3192"/>
              </a:lnSpc>
              <a:buFont typeface="Wingdings" panose="05000000000000000000" pitchFamily="2" charset="2"/>
              <a:buChar char="ü"/>
            </a:pPr>
            <a:r>
              <a:rPr lang="en-US" sz="4000" dirty="0"/>
              <a:t> Hybrid RAG retrieved relevant historical consultations.</a:t>
            </a:r>
          </a:p>
          <a:p>
            <a:pPr algn="l">
              <a:lnSpc>
                <a:spcPts val="3192"/>
              </a:lnSpc>
            </a:pPr>
            <a:endParaRPr lang="en-US" sz="4000" dirty="0"/>
          </a:p>
          <a:p>
            <a:pPr marL="457200" indent="-457200" algn="l">
              <a:lnSpc>
                <a:spcPts val="3192"/>
              </a:lnSpc>
              <a:buFont typeface="Wingdings" panose="05000000000000000000" pitchFamily="2" charset="2"/>
              <a:buChar char="ü"/>
            </a:pPr>
            <a:r>
              <a:rPr lang="en-US" sz="4000" dirty="0"/>
              <a:t>Overall system demonstrated reliable and efficient performance.</a:t>
            </a:r>
            <a:endParaRPr lang="en-US" sz="4000" dirty="0">
              <a:solidFill>
                <a:srgbClr val="000000"/>
              </a:solidFill>
              <a:latin typeface="Inter"/>
              <a:ea typeface="Inter"/>
              <a:cs typeface="Inter"/>
              <a:sym typeface="Inter"/>
            </a:endParaRPr>
          </a:p>
        </p:txBody>
      </p:sp>
      <p:sp>
        <p:nvSpPr>
          <p:cNvPr id="23" name="TextBox 23"/>
          <p:cNvSpPr txBox="1"/>
          <p:nvPr/>
        </p:nvSpPr>
        <p:spPr>
          <a:xfrm>
            <a:off x="7766447" y="2181940"/>
            <a:ext cx="9492853" cy="1247649"/>
          </a:xfrm>
          <a:prstGeom prst="rect">
            <a:avLst/>
          </a:prstGeom>
        </p:spPr>
        <p:txBody>
          <a:bodyPr lIns="0" tIns="0" rIns="0" bIns="0" rtlCol="0" anchor="t">
            <a:spAutoFit/>
          </a:bodyPr>
          <a:lstStyle/>
          <a:p>
            <a:pPr>
              <a:lnSpc>
                <a:spcPts val="4775"/>
              </a:lnSpc>
            </a:pPr>
            <a:r>
              <a:rPr lang="en-IN" sz="5400" b="1" dirty="0"/>
              <a:t>Intermediate Result Analysis</a:t>
            </a:r>
          </a:p>
          <a:p>
            <a:pPr algn="l">
              <a:lnSpc>
                <a:spcPts val="4775"/>
              </a:lnSpc>
            </a:pPr>
            <a:endParaRPr lang="en-US" sz="4923" b="1" dirty="0">
              <a:solidFill>
                <a:srgbClr val="000000"/>
              </a:solidFill>
              <a:latin typeface="Bricolage Grotesque Bold"/>
              <a:ea typeface="Bricolage Grotesque Bold"/>
              <a:cs typeface="Bricolage Grotesque Bold"/>
              <a:sym typeface="Bricolage Grotesque Bo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solidFill>
            <a:schemeClr val="accent3">
              <a:lumMod val="20000"/>
              <a:lumOff val="80000"/>
            </a:schemeClr>
          </a:solidFill>
        </p:spPr>
      </p:sp>
      <p:sp>
        <p:nvSpPr>
          <p:cNvPr id="3" name="Freeform 3"/>
          <p:cNvSpPr/>
          <p:nvPr/>
        </p:nvSpPr>
        <p:spPr>
          <a:xfrm>
            <a:off x="0" y="1028700"/>
            <a:ext cx="17259300" cy="8537979"/>
          </a:xfrm>
          <a:custGeom>
            <a:avLst/>
            <a:gdLst/>
            <a:ahLst/>
            <a:cxnLst/>
            <a:rect l="l" t="t" r="r" b="b"/>
            <a:pathLst>
              <a:path w="17259300" h="8537979">
                <a:moveTo>
                  <a:pt x="0" y="0"/>
                </a:moveTo>
                <a:lnTo>
                  <a:pt x="17259300" y="0"/>
                </a:lnTo>
                <a:lnTo>
                  <a:pt x="17259300" y="8537979"/>
                </a:lnTo>
                <a:lnTo>
                  <a:pt x="0" y="8537979"/>
                </a:lnTo>
                <a:lnTo>
                  <a:pt x="0" y="0"/>
                </a:lnTo>
                <a:close/>
              </a:path>
            </a:pathLst>
          </a:custGeom>
          <a:blipFill>
            <a:blip r:embed="rId2">
              <a:alphaModFix amt="58000"/>
            </a:blip>
            <a:stretch>
              <a:fillRect l="-2117" t="-97690" b="-94078"/>
            </a:stretch>
          </a:blipFill>
        </p:spPr>
      </p:sp>
      <p:sp>
        <p:nvSpPr>
          <p:cNvPr id="4" name="Freeform 4"/>
          <p:cNvSpPr/>
          <p:nvPr/>
        </p:nvSpPr>
        <p:spPr>
          <a:xfrm>
            <a:off x="12762383" y="0"/>
            <a:ext cx="5525617" cy="10287000"/>
          </a:xfrm>
          <a:custGeom>
            <a:avLst/>
            <a:gdLst/>
            <a:ahLst/>
            <a:cxnLst/>
            <a:rect l="l" t="t" r="r" b="b"/>
            <a:pathLst>
              <a:path w="5525617" h="10287000">
                <a:moveTo>
                  <a:pt x="0" y="0"/>
                </a:moveTo>
                <a:lnTo>
                  <a:pt x="5525617" y="0"/>
                </a:lnTo>
                <a:lnTo>
                  <a:pt x="5525617" y="10287000"/>
                </a:lnTo>
                <a:lnTo>
                  <a:pt x="0" y="10287000"/>
                </a:lnTo>
                <a:lnTo>
                  <a:pt x="0" y="0"/>
                </a:lnTo>
                <a:close/>
              </a:path>
            </a:pathLst>
          </a:custGeom>
          <a:blipFill>
            <a:blip r:embed="rId3"/>
            <a:stretch>
              <a:fillRect t="-16368" r="-8355" b="-10159"/>
            </a:stretch>
          </a:blipFill>
        </p:spPr>
      </p:sp>
      <p:sp>
        <p:nvSpPr>
          <p:cNvPr id="5" name="Freeform 5"/>
          <p:cNvSpPr/>
          <p:nvPr/>
        </p:nvSpPr>
        <p:spPr>
          <a:xfrm>
            <a:off x="13767147" y="6325773"/>
            <a:ext cx="4840703" cy="5825791"/>
          </a:xfrm>
          <a:custGeom>
            <a:avLst/>
            <a:gdLst/>
            <a:ahLst/>
            <a:cxnLst/>
            <a:rect l="l" t="t" r="r" b="b"/>
            <a:pathLst>
              <a:path w="4840703" h="5825791">
                <a:moveTo>
                  <a:pt x="0" y="0"/>
                </a:moveTo>
                <a:lnTo>
                  <a:pt x="4840703" y="0"/>
                </a:lnTo>
                <a:lnTo>
                  <a:pt x="4840703" y="5825791"/>
                </a:lnTo>
                <a:lnTo>
                  <a:pt x="0" y="582579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8" name="Freeform 18"/>
          <p:cNvSpPr/>
          <p:nvPr/>
        </p:nvSpPr>
        <p:spPr>
          <a:xfrm>
            <a:off x="6280662" y="6325773"/>
            <a:ext cx="1273444" cy="720075"/>
          </a:xfrm>
          <a:custGeom>
            <a:avLst/>
            <a:gdLst/>
            <a:ahLst/>
            <a:cxnLst/>
            <a:rect l="l" t="t" r="r" b="b"/>
            <a:pathLst>
              <a:path w="1273444" h="720075">
                <a:moveTo>
                  <a:pt x="0" y="0"/>
                </a:moveTo>
                <a:lnTo>
                  <a:pt x="1273444" y="0"/>
                </a:lnTo>
                <a:lnTo>
                  <a:pt x="1273444" y="720075"/>
                </a:lnTo>
                <a:lnTo>
                  <a:pt x="0" y="72007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9" name="Freeform 19"/>
          <p:cNvSpPr/>
          <p:nvPr/>
        </p:nvSpPr>
        <p:spPr>
          <a:xfrm>
            <a:off x="9694486" y="5579321"/>
            <a:ext cx="2704184" cy="2871238"/>
          </a:xfrm>
          <a:custGeom>
            <a:avLst/>
            <a:gdLst/>
            <a:ahLst/>
            <a:cxnLst/>
            <a:rect l="l" t="t" r="r" b="b"/>
            <a:pathLst>
              <a:path w="2704184" h="2871238">
                <a:moveTo>
                  <a:pt x="0" y="0"/>
                </a:moveTo>
                <a:lnTo>
                  <a:pt x="2704184" y="0"/>
                </a:lnTo>
                <a:lnTo>
                  <a:pt x="2704184" y="2871237"/>
                </a:lnTo>
                <a:lnTo>
                  <a:pt x="0" y="287123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0" name="TextBox 20"/>
          <p:cNvSpPr txBox="1"/>
          <p:nvPr/>
        </p:nvSpPr>
        <p:spPr>
          <a:xfrm>
            <a:off x="1069198" y="3770201"/>
            <a:ext cx="12744763" cy="1998706"/>
          </a:xfrm>
          <a:prstGeom prst="rect">
            <a:avLst/>
          </a:prstGeom>
        </p:spPr>
        <p:txBody>
          <a:bodyPr lIns="0" tIns="0" rIns="0" bIns="0" rtlCol="0" anchor="t">
            <a:spAutoFit/>
          </a:bodyPr>
          <a:lstStyle/>
          <a:p>
            <a:pPr algn="l">
              <a:lnSpc>
                <a:spcPts val="14821"/>
              </a:lnSpc>
            </a:pPr>
            <a:r>
              <a:rPr lang="en-US" sz="15279" b="1" dirty="0">
                <a:solidFill>
                  <a:srgbClr val="8D140B"/>
                </a:solidFill>
                <a:latin typeface="Roboto Bold"/>
                <a:ea typeface="Roboto Bold"/>
                <a:cs typeface="Roboto Bold"/>
                <a:sym typeface="Roboto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129</TotalTime>
  <Words>800</Words>
  <Application>Microsoft Office PowerPoint</Application>
  <PresentationFormat>Custom</PresentationFormat>
  <Paragraphs>87</Paragraphs>
  <Slides>15</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Wingdings</vt:lpstr>
      <vt:lpstr>Bricolage Grotesque</vt:lpstr>
      <vt:lpstr>Roboto Bold</vt:lpstr>
      <vt:lpstr>Bricolage Grotesque Bold</vt:lpstr>
      <vt:lpstr>Inter</vt:lpstr>
      <vt:lpstr>Arial</vt:lpstr>
      <vt:lpstr>Calibri</vt:lpstr>
      <vt:lpstr>Poppins</vt:lpstr>
      <vt:lpstr>Inter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shrutika</dc:creator>
  <cp:lastModifiedBy>Shree</cp:lastModifiedBy>
  <cp:revision>5</cp:revision>
  <dcterms:created xsi:type="dcterms:W3CDTF">2006-08-16T00:00:00Z</dcterms:created>
  <dcterms:modified xsi:type="dcterms:W3CDTF">2026-06-14T16:27:02Z</dcterms:modified>
  <dc:identifier>DAHMjYDF8YQ</dc:identifier>
</cp:coreProperties>
</file>